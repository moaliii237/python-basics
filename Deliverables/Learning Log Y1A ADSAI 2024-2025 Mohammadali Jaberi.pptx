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46"/>
  </p:notesMasterIdLst>
  <p:sldIdLst>
    <p:sldId id="320" r:id="rId5"/>
    <p:sldId id="321" r:id="rId6"/>
    <p:sldId id="258" r:id="rId7"/>
    <p:sldId id="263" r:id="rId8"/>
    <p:sldId id="305" r:id="rId9"/>
    <p:sldId id="264" r:id="rId10"/>
    <p:sldId id="322" r:id="rId11"/>
    <p:sldId id="268" r:id="rId12"/>
    <p:sldId id="269" r:id="rId13"/>
    <p:sldId id="270" r:id="rId14"/>
    <p:sldId id="271" r:id="rId15"/>
    <p:sldId id="306" r:id="rId16"/>
    <p:sldId id="307" r:id="rId17"/>
    <p:sldId id="308" r:id="rId18"/>
    <p:sldId id="309" r:id="rId19"/>
    <p:sldId id="310" r:id="rId20"/>
    <p:sldId id="311" r:id="rId21"/>
    <p:sldId id="312" r:id="rId22"/>
    <p:sldId id="313" r:id="rId23"/>
    <p:sldId id="314" r:id="rId24"/>
    <p:sldId id="315" r:id="rId25"/>
    <p:sldId id="282" r:id="rId26"/>
    <p:sldId id="348" r:id="rId27"/>
    <p:sldId id="350" r:id="rId28"/>
    <p:sldId id="351" r:id="rId29"/>
    <p:sldId id="352" r:id="rId30"/>
    <p:sldId id="283" r:id="rId31"/>
    <p:sldId id="343" r:id="rId32"/>
    <p:sldId id="288" r:id="rId33"/>
    <p:sldId id="344" r:id="rId34"/>
    <p:sldId id="293" r:id="rId35"/>
    <p:sldId id="353" r:id="rId36"/>
    <p:sldId id="299" r:id="rId37"/>
    <p:sldId id="354" r:id="rId38"/>
    <p:sldId id="355" r:id="rId39"/>
    <p:sldId id="356" r:id="rId40"/>
    <p:sldId id="319" r:id="rId41"/>
    <p:sldId id="318" r:id="rId42"/>
    <p:sldId id="296" r:id="rId43"/>
    <p:sldId id="297" r:id="rId44"/>
    <p:sldId id="298" r:id="rId45"/>
  </p:sldIdLst>
  <p:sldSz cx="9144000" cy="5143500" type="screen16x9"/>
  <p:notesSz cx="6858000" cy="9144000"/>
  <p:embeddedFontLst>
    <p:embeddedFont>
      <p:font typeface="Helvetica Neue"/>
      <p:regular r:id="rId47"/>
      <p:bold r:id="rId48"/>
      <p:italic r:id="rId49"/>
      <p:boldItalic r:id="rId50"/>
    </p:embeddedFont>
    <p:embeddedFont>
      <p:font typeface="Proxima Nova"/>
      <p:regular r:id="rId51"/>
      <p:bold r:id="rId52"/>
      <p:italic r:id="rId53"/>
      <p:boldItalic r:id="rId54"/>
    </p:embeddedFont>
    <p:embeddedFont>
      <p:font typeface="Roboto" panose="02000000000000000000" pitchFamily="2" charset="0"/>
      <p:regular r:id="rId55"/>
      <p:bold r:id="rId56"/>
      <p:italic r:id="rId57"/>
      <p:boldItalic r:id="rId58"/>
    </p:embeddedFont>
    <p:embeddedFont>
      <p:font typeface="Roboto Light" panose="02000000000000000000" pitchFamily="2" charset="0"/>
      <p:regular r:id="rId59"/>
      <p:bold r:id="rId60"/>
      <p:italic r:id="rId61"/>
      <p:boldItalic r:id="rId62"/>
    </p:embeddedFont>
    <p:embeddedFont>
      <p:font typeface="Roboto Thin" panose="02000000000000000000" pitchFamily="2"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F07B12-FAE0-28AD-E538-EEDF72EBCEF7}" name="Noyan, Alican" initials="NA" userId="S::noyan.a@buas.nl::f2106684-872a-4b1d-b983-18c991c4133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40"/>
    <p:restoredTop sz="75622" autoAdjust="0"/>
  </p:normalViewPr>
  <p:slideViewPr>
    <p:cSldViewPr snapToGrid="0">
      <p:cViewPr varScale="1">
        <p:scale>
          <a:sx n="82" d="100"/>
          <a:sy n="82" d="100"/>
        </p:scale>
        <p:origin x="1584" y="6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viewProps" Target="viewProps.xml"/><Relationship Id="rId7" Type="http://schemas.openxmlformats.org/officeDocument/2006/relationships/slide" Target="slides/slide3.xml"/><Relationship Id="rId71"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font" Target="fonts/font20.fntdata"/><Relationship Id="rId5" Type="http://schemas.openxmlformats.org/officeDocument/2006/relationships/slide" Target="slides/slide1.xml"/><Relationship Id="rId61" Type="http://schemas.openxmlformats.org/officeDocument/2006/relationships/font" Target="fonts/font15.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5.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font" Target="fonts/font4.fntdata"/><Relationship Id="rId55"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6b4f495656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6b4f49565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MUST BE UPDATED EVERY WEEK</a:t>
            </a:r>
          </a:p>
          <a:p>
            <a:pPr marL="0" lvl="0" indent="0" algn="l" rtl="0">
              <a:spcBef>
                <a:spcPts val="0"/>
              </a:spcBef>
              <a:spcAft>
                <a:spcPts val="0"/>
              </a:spcAft>
              <a:buNone/>
            </a:pPr>
            <a:endParaRPr dirty="0"/>
          </a:p>
          <a:p>
            <a:pPr marL="0" lvl="0" indent="0" algn="l" rtl="0">
              <a:spcBef>
                <a:spcPts val="0"/>
              </a:spcBef>
              <a:spcAft>
                <a:spcPts val="0"/>
              </a:spcAft>
              <a:buNone/>
            </a:pPr>
            <a:r>
              <a:rPr lang="en" dirty="0"/>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p>
          <a:p>
            <a:pPr marL="0" lvl="0" indent="0" algn="l" rtl="0">
              <a:spcBef>
                <a:spcPts val="0"/>
              </a:spcBef>
              <a:spcAft>
                <a:spcPts val="0"/>
              </a:spcAft>
              <a:buNone/>
            </a:pPr>
            <a:endParaRPr dirty="0"/>
          </a:p>
          <a:p>
            <a:pPr marL="0" lvl="0" indent="0" algn="l" rtl="0">
              <a:spcBef>
                <a:spcPts val="0"/>
              </a:spcBef>
              <a:spcAft>
                <a:spcPts val="0"/>
              </a:spcAft>
              <a:buNone/>
            </a:pPr>
            <a:r>
              <a:rPr lang="en" dirty="0"/>
              <a:t>In such cases, you simply need to provide links to those artifacts and may include any explanatory comment or reflection you feel is appropriate. </a:t>
            </a:r>
            <a:endParaRPr dirty="0"/>
          </a:p>
          <a:p>
            <a:pPr marL="0" lvl="0" indent="0" algn="l" rtl="0">
              <a:spcBef>
                <a:spcPts val="0"/>
              </a:spcBef>
              <a:spcAft>
                <a:spcPts val="0"/>
              </a:spcAft>
              <a:buNone/>
            </a:pPr>
            <a:r>
              <a:rPr lang="en" dirty="0"/>
              <a:t>(Some reflection is almost always a good idea as it provides the foundation for Section C.)</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MUST BE UPDATED EVERY WEEK</a:t>
            </a:r>
            <a:endParaRPr dirty="0"/>
          </a:p>
          <a:p>
            <a:pPr marL="0" lvl="0" indent="0" algn="l" rtl="0">
              <a:spcBef>
                <a:spcPts val="0"/>
              </a:spcBef>
              <a:spcAft>
                <a:spcPts val="0"/>
              </a:spcAft>
              <a:buNone/>
            </a:pPr>
            <a:endParaRPr lang="en" dirty="0"/>
          </a:p>
          <a:p>
            <a:pPr marL="0" lvl="0" indent="0" algn="l" rtl="0">
              <a:spcBef>
                <a:spcPts val="0"/>
              </a:spcBef>
              <a:spcAft>
                <a:spcPts val="0"/>
              </a:spcAft>
              <a:buNone/>
            </a:pPr>
            <a:r>
              <a:rPr lang="en" dirty="0"/>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Note: some of the required information may be captured in production documents such as your work log or peer reviews. In such cases, you simply need to provide links to those artifacts and may include any explanatory comment or reflection you feel is appropriate. </a:t>
            </a:r>
            <a:endParaRPr dirty="0"/>
          </a:p>
          <a:p>
            <a:pPr marL="0" lvl="0" indent="0" algn="l" rtl="0">
              <a:spcBef>
                <a:spcPts val="0"/>
              </a:spcBef>
              <a:spcAft>
                <a:spcPts val="0"/>
              </a:spcAft>
              <a:buNone/>
            </a:pPr>
            <a:r>
              <a:rPr lang="en" dirty="0"/>
              <a:t>(Some reflection is almost always a good idea as it provides the foundation for Section C.)</a:t>
            </a:r>
            <a:endParaRPr dirty="0"/>
          </a:p>
        </p:txBody>
      </p:sp>
    </p:spTree>
    <p:extLst>
      <p:ext uri="{BB962C8B-B14F-4D97-AF65-F5344CB8AC3E}">
        <p14:creationId xmlns:p14="http://schemas.microsoft.com/office/powerpoint/2010/main" val="326737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5e44ff1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5e44ff1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6b602ea5a7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6b602ea5a7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44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782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241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772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999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87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3011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2333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24826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60811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MUST BE COMPLETED IN WEEK 8, BUT SHOULD BE UPDATED REGULARLY</a:t>
            </a:r>
          </a:p>
          <a:p>
            <a:pPr marL="0" lvl="0" indent="0" algn="l" rtl="0">
              <a:spcBef>
                <a:spcPts val="0"/>
              </a:spcBef>
              <a:spcAft>
                <a:spcPts val="0"/>
              </a:spcAft>
              <a:buNone/>
            </a:pPr>
            <a:endParaRPr dirty="0"/>
          </a:p>
          <a:p>
            <a:pPr marL="0" lvl="0" indent="0" algn="l" rtl="0">
              <a:spcBef>
                <a:spcPts val="0"/>
              </a:spcBef>
              <a:spcAft>
                <a:spcPts val="0"/>
              </a:spcAft>
              <a:buNone/>
            </a:pPr>
            <a:r>
              <a:rPr lang="en" dirty="0"/>
              <a:t>This is where you link your evidence to each of the Intended Learning Outcomes of this block.</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B85DEB1A-6FA7-A1CE-E2A4-AC46AF33F0E6}"/>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B0B1C836-CD14-98ED-E7FE-333C7BF47D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E7052119-252F-F9C6-92DC-3E5E32FC74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231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008F5683-B67D-2CBD-C81A-708B8497270C}"/>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3C52C5B8-4638-4170-DF38-C28390DFF2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1DBD52B1-D403-449A-6E21-A9D87A3D7C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78385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D75AA9B3-F89E-5B70-571A-16B161965AB7}"/>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A189C570-8A9F-8ABB-1A35-974096EF4E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E1737BC3-72A0-1A69-E468-6E07AE7ACF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8637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603F9865-F1A8-DE5D-9767-61C160AB0BC1}"/>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180F8DAD-B5A2-73B2-B3F3-FBC034B29A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6C82408E-333F-6781-F756-BC7B9F8CC5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59994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7210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6b4f495656_0_7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6b4f495656_0_7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67210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1EAF3E3B-EE88-7241-24FA-FB0FDA70EE37}"/>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79417FF5-9EEA-D677-CD87-C8A1B0E666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C9FE7F3B-9941-0491-4949-652B2BFED8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07059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38975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34909CAE-3F3F-4B21-89DE-29BDFB708507}"/>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A9C3E4AA-5379-E430-ECCB-3BBBF9E937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936EFC2A-F76A-1E45-68C9-3619C73707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023358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a:extLst>
            <a:ext uri="{FF2B5EF4-FFF2-40B4-BE49-F238E27FC236}">
              <a16:creationId xmlns:a16="http://schemas.microsoft.com/office/drawing/2014/main" id="{A7A64B75-D80D-FB27-17E5-BE946B3BF93E}"/>
            </a:ext>
          </a:extLst>
        </p:cNvPr>
        <p:cNvGrpSpPr/>
        <p:nvPr/>
      </p:nvGrpSpPr>
      <p:grpSpPr>
        <a:xfrm>
          <a:off x="0" y="0"/>
          <a:ext cx="0" cy="0"/>
          <a:chOff x="0" y="0"/>
          <a:chExt cx="0" cy="0"/>
        </a:xfrm>
      </p:grpSpPr>
      <p:sp>
        <p:nvSpPr>
          <p:cNvPr id="464" name="Google Shape;464;g6b4f495656_0_721:notes">
            <a:extLst>
              <a:ext uri="{FF2B5EF4-FFF2-40B4-BE49-F238E27FC236}">
                <a16:creationId xmlns:a16="http://schemas.microsoft.com/office/drawing/2014/main" id="{D076FC7A-6A3D-0B34-3BE4-B93661BC40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a:extLst>
              <a:ext uri="{FF2B5EF4-FFF2-40B4-BE49-F238E27FC236}">
                <a16:creationId xmlns:a16="http://schemas.microsoft.com/office/drawing/2014/main" id="{61ADC1B1-4197-B29F-6D7F-66DD2DAD27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82438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9DD389EE-8348-CF6B-B706-CFF2E6EDEBFA}"/>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08A77F27-E30E-ED0A-8C66-489034E8BF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7CEA6612-6363-2031-513D-430EEA777C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180818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6480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684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p>
          <a:p>
            <a:pPr marL="0" lvl="0" indent="0" algn="l" rtl="0">
              <a:spcBef>
                <a:spcPts val="0"/>
              </a:spcBef>
              <a:spcAft>
                <a:spcPts val="0"/>
              </a:spcAft>
              <a:buNone/>
            </a:pPr>
            <a:endParaRPr/>
          </a:p>
          <a:p>
            <a:pPr marL="0" lvl="0" indent="0" algn="l" rtl="0">
              <a:spcBef>
                <a:spcPts val="0"/>
              </a:spcBef>
              <a:spcAft>
                <a:spcPts val="0"/>
              </a:spcAft>
              <a:buNone/>
            </a:pPr>
            <a:r>
              <a:rPr lang="en" dirty="0"/>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6b602ea5a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6b602ea5a7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sp>
        <p:nvSpPr>
          <p:cNvPr id="16" name="Google Shape;16;p2"/>
          <p:cNvSpPr txBox="1"/>
          <p:nvPr/>
        </p:nvSpPr>
        <p:spPr>
          <a:xfrm>
            <a:off x="1846250" y="4412100"/>
            <a:ext cx="6527400" cy="598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dirty="0">
                <a:solidFill>
                  <a:srgbClr val="999999"/>
                </a:solidFill>
                <a:latin typeface="Helvetica Neue"/>
                <a:ea typeface="Helvetica Neue"/>
                <a:cs typeface="Helvetica Neue"/>
                <a:sym typeface="Helvetica Neue"/>
              </a:rPr>
              <a:t>Project Brief &amp; Assessment Assignment : </a:t>
            </a:r>
            <a:r>
              <a:rPr lang="en-US" sz="700" b="1" dirty="0">
                <a:latin typeface="Helvetica Neue"/>
                <a:ea typeface="Helvetica Neue"/>
                <a:cs typeface="Helvetica Neue"/>
                <a:sym typeface="Helvetica Neue"/>
              </a:rPr>
              <a:t>FAI1.P1-01 Project 1A ADS&amp;AI 2024-25</a:t>
            </a:r>
            <a:endParaRPr sz="700" b="1" dirty="0">
              <a:latin typeface="Helvetica Neue"/>
              <a:ea typeface="Helvetica Neue"/>
              <a:cs typeface="Helvetica Neue"/>
              <a:sym typeface="Helvetica Neue"/>
            </a:endParaRPr>
          </a:p>
          <a:p>
            <a:pPr marL="0" lvl="0" indent="0" algn="l" rtl="0">
              <a:spcBef>
                <a:spcPts val="0"/>
              </a:spcBef>
              <a:spcAft>
                <a:spcPts val="0"/>
              </a:spcAft>
              <a:buNone/>
            </a:pPr>
            <a:r>
              <a:rPr lang="en" sz="700" b="1" dirty="0">
                <a:solidFill>
                  <a:srgbClr val="999999"/>
                </a:solidFill>
                <a:latin typeface="Helvetica Neue"/>
                <a:ea typeface="Helvetica Neue"/>
                <a:cs typeface="Helvetica Neue"/>
                <a:sym typeface="Helvetica Neue"/>
              </a:rPr>
              <a:t>GitHub Folder: </a:t>
            </a:r>
            <a:endParaRPr dirty="0">
              <a:latin typeface="Roboto"/>
              <a:ea typeface="Roboto"/>
              <a:cs typeface="Roboto"/>
              <a:sym typeface="Robo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8" name="Google Shape;38;p6"/>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
        <p:nvSpPr>
          <p:cNvPr id="43" name="Google Shape;43;p6"/>
          <p:cNvSpPr txBox="1"/>
          <p:nvPr/>
        </p:nvSpPr>
        <p:spPr>
          <a:xfrm>
            <a:off x="5852160" y="1252728"/>
            <a:ext cx="3108900" cy="1828800"/>
          </a:xfrm>
          <a:prstGeom prst="rect">
            <a:avLst/>
          </a:prstGeom>
          <a:noFill/>
          <a:ln w="9525" cap="flat" cmpd="sng">
            <a:solidFill>
              <a:srgbClr val="CCCCCC"/>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CCCCCC"/>
                </a:solidFill>
                <a:latin typeface="Roboto"/>
                <a:ea typeface="Roboto"/>
                <a:cs typeface="Roboto"/>
                <a:sym typeface="Roboto"/>
              </a:rPr>
              <a:t>Room for Pictures</a:t>
            </a:r>
            <a:endParaRPr sz="1000">
              <a:solidFill>
                <a:srgbClr val="CCCCCC"/>
              </a:solidFill>
              <a:latin typeface="Roboto"/>
              <a:ea typeface="Roboto"/>
              <a:cs typeface="Roboto"/>
              <a:sym typeface="Roboto"/>
            </a:endParaRPr>
          </a:p>
        </p:txBody>
      </p:sp>
      <p:sp>
        <p:nvSpPr>
          <p:cNvPr id="44" name="Google Shape;44;p6"/>
          <p:cNvSpPr txBox="1"/>
          <p:nvPr/>
        </p:nvSpPr>
        <p:spPr>
          <a:xfrm>
            <a:off x="5852160" y="3136253"/>
            <a:ext cx="3108900" cy="1828800"/>
          </a:xfrm>
          <a:prstGeom prst="rect">
            <a:avLst/>
          </a:prstGeom>
          <a:noFill/>
          <a:ln w="9525" cap="flat" cmpd="sng">
            <a:solidFill>
              <a:srgbClr val="CCCCCC"/>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CCCCCC"/>
                </a:solidFill>
                <a:latin typeface="Roboto"/>
                <a:ea typeface="Roboto"/>
                <a:cs typeface="Roboto"/>
                <a:sym typeface="Roboto"/>
              </a:rPr>
              <a:t>Room for Pictures</a:t>
            </a:r>
            <a:endParaRPr sz="1000">
              <a:solidFill>
                <a:srgbClr val="CCCCCC"/>
              </a:solidFill>
              <a:latin typeface="Roboto"/>
              <a:ea typeface="Roboto"/>
              <a:cs typeface="Roboto"/>
              <a:sym typeface="Robo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eeks">
  <p:cSld name="CUSTOM_2_2">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ek 4 goals">
  <p:cSld name="CUSTOM_2_2_2">
    <p:spTree>
      <p:nvGrpSpPr>
        <p:cNvPr id="1" name="Shape 54"/>
        <p:cNvGrpSpPr/>
        <p:nvPr/>
      </p:nvGrpSpPr>
      <p:grpSpPr>
        <a:xfrm>
          <a:off x="0" y="0"/>
          <a:ext cx="0" cy="0"/>
          <a:chOff x="0" y="0"/>
          <a:chExt cx="0" cy="0"/>
        </a:xfrm>
      </p:grpSpPr>
      <p:sp>
        <p:nvSpPr>
          <p:cNvPr id="55" name="Google Shape;55;p8"/>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6" name="Google Shape;56;p8"/>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7" name="Google Shape;57;p8"/>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8" name="Google Shape;58;p8"/>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9" name="Google Shape;59;p8"/>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1" name="Google Shape;61;p8"/>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2" name="Google Shape;62;p8"/>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3" name="Google Shape;63;p8"/>
          <p:cNvSpPr txBox="1">
            <a:spLocks noGrp="1"/>
          </p:cNvSpPr>
          <p:nvPr>
            <p:ph type="body" idx="7"/>
          </p:nvPr>
        </p:nvSpPr>
        <p:spPr>
          <a:xfrm>
            <a:off x="4663450" y="317214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4" name="Google Shape;64;p8"/>
          <p:cNvSpPr txBox="1">
            <a:spLocks noGrp="1"/>
          </p:cNvSpPr>
          <p:nvPr>
            <p:ph type="subTitle" idx="8"/>
          </p:nvPr>
        </p:nvSpPr>
        <p:spPr>
          <a:xfrm>
            <a:off x="4663440" y="277840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eedback Slides">
  <p:cSld name="CUSTOM_2_2_1">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endParaRP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LO's" userDrawn="1">
  <p:cSld name="1_ILO's">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Tree>
    <p:extLst>
      <p:ext uri="{BB962C8B-B14F-4D97-AF65-F5344CB8AC3E}">
        <p14:creationId xmlns:p14="http://schemas.microsoft.com/office/powerpoint/2010/main" val="2532129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2.%20Conditional%20execution.ipynb"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4.%20Loops%20(2)%20anjam%20shode.ipynb"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hyperlink" Target="https://edubuas-my.sharepoint.com/:v:/g/personal/harty_d_buas_nl/Ecjkcuj4CPVNr3FqbZwD1CwB0Bkc7MF5n7dwRpxJkCUksA?e=bGxnDV"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certificate(1).pdf"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week%205%20Friday%20khan%20academy.png"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Week%206%20data%20camp%20Monday.pdf"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certificate(%20WEEK%207%20MONDAY%20).pdf"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power%20bi%20(not%20ready%20yet).pbix"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work%20log%20evidence.png" TargetMode="External"/><Relationship Id="rId2" Type="http://schemas.openxmlformats.org/officeDocument/2006/relationships/notesSlide" Target="../notesSlides/notesSlide24.xml"/><Relationship Id="rId1" Type="http://schemas.openxmlformats.org/officeDocument/2006/relationships/slideLayout" Target="../slideLayouts/slideLayout10.xml"/><Relationship Id="rId6" Type="http://schemas.openxmlformats.org/officeDocument/2006/relationships/hyperlink" Target="https://github.com/BredaUniversityADSAI/2024-25A-FAI1-ADSAI--MohammadaliJaberi244437/blob/main/week%203%20evidence%20coding%20bat.png" TargetMode="External"/><Relationship Id="rId5" Type="http://schemas.openxmlformats.org/officeDocument/2006/relationships/hyperlink" Target="https://github.com/BredaUniversityADSAI/2024-25A-FAI1-ADSAI--MohammadaliJaberi244437/blob/main/6.%20Lists(anjam%20shode).ipynb" TargetMode="External"/><Relationship Id="rId4" Type="http://schemas.openxmlformats.org/officeDocument/2006/relationships/hyperlink" Target="https://github.com/BredaUniversityADSAI/2024-25A-FAI1-ADSAI--MohammadaliJaberi244437/blob/main/7.%20Dictionaries(anjam%20shode).ipynb"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week%205%20Friday%20khan%20academy.png" TargetMode="External"/><Relationship Id="rId2" Type="http://schemas.openxmlformats.org/officeDocument/2006/relationships/notesSlide" Target="../notesSlides/notesSlide26.xml"/><Relationship Id="rId1" Type="http://schemas.openxmlformats.org/officeDocument/2006/relationships/slideLayout" Target="../slideLayouts/slideLayout10.xml"/><Relationship Id="rId6" Type="http://schemas.openxmlformats.org/officeDocument/2006/relationships/hyperlink" Target="https://github.com/BredaUniversityADSAI/2024-25A-FAI1-ADSAI--MohammadaliJaberi244437/blob/main/Tuesday%20khan%20academy.png" TargetMode="External"/><Relationship Id="rId5" Type="http://schemas.openxmlformats.org/officeDocument/2006/relationships/hyperlink" Target="https://github.com/BredaUniversityADSAI/2024-25A-FAI1-ADSAI--MohammadaliJaberi244437/blob/main/Math%20quiz%20week%203.png" TargetMode="External"/><Relationship Id="rId4" Type="http://schemas.openxmlformats.org/officeDocument/2006/relationships/hyperlink" Target="https://github.com/BredaUniversityADSAI/2024-25A-FAI1-ADSAI--MohammadaliJaberi244437/blob/main/Monday%20quiz%20math%20week%204.png"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study.buas.nl/d2l/lms/dropbox/user/folders_list.d2l?ou=26107&amp;isprv=0" TargetMode="External"/><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evidence%20of%20correlation.png" TargetMode="External"/><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hyperlink" Target="https://github.com/BredaUniversityADSAI/2024-25A-FAI1-ADSAI--MohammadaliJaberi244437/blob/main/power%20bi%20(not%20ready%20yet).pbix"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BredaUniversityADSAI/2024-25A-FAI1-ADSAI--MohammadaliJaberi244437/blob/main/power%20bi%20(not%20ready%20yet).pbix" TargetMode="External"/><Relationship Id="rId2" Type="http://schemas.openxmlformats.org/officeDocument/2006/relationships/notesSlide" Target="../notesSlides/notesSlide36.xml"/><Relationship Id="rId1" Type="http://schemas.openxmlformats.org/officeDocument/2006/relationships/slideLayout" Target="../slideLayouts/slideLayout10.xml"/><Relationship Id="rId4" Type="http://schemas.openxmlformats.org/officeDocument/2006/relationships/hyperlink" Target="https://github.com/BredaUniversityADSAI/2024-25A-FAI1-ADSAI--MohammadaliJaberi244437/blob/main/DS1_Dashboard_Mohammadali.pbix"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4.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2"/>
          <p:cNvSpPr txBox="1">
            <a:spLocks noGrp="1"/>
          </p:cNvSpPr>
          <p:nvPr>
            <p:ph type="ctrTitle"/>
          </p:nvPr>
        </p:nvSpPr>
        <p:spPr>
          <a:xfrm>
            <a:off x="3657600" y="548650"/>
            <a:ext cx="4937700" cy="326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FFFF"/>
                </a:solidFill>
                <a:latin typeface="Roboto"/>
                <a:ea typeface="Roboto"/>
                <a:cs typeface="Roboto"/>
                <a:sym typeface="Roboto"/>
              </a:rPr>
              <a:t>Mohammadali Jaberi</a:t>
            </a:r>
            <a:br>
              <a:rPr lang="en" dirty="0">
                <a:solidFill>
                  <a:srgbClr val="FFFFFF"/>
                </a:solidFill>
                <a:latin typeface="Roboto"/>
                <a:ea typeface="Roboto"/>
                <a:cs typeface="Roboto"/>
                <a:sym typeface="Roboto"/>
              </a:rPr>
            </a:br>
            <a:br>
              <a:rPr lang="en" dirty="0">
                <a:solidFill>
                  <a:srgbClr val="FFFFFF"/>
                </a:solidFill>
                <a:latin typeface="Roboto"/>
                <a:ea typeface="Roboto"/>
                <a:cs typeface="Roboto"/>
                <a:sym typeface="Roboto"/>
              </a:rPr>
            </a:br>
            <a:r>
              <a:rPr lang="en" dirty="0">
                <a:solidFill>
                  <a:srgbClr val="FFFFFF"/>
                </a:solidFill>
                <a:latin typeface="Roboto"/>
                <a:ea typeface="Roboto"/>
                <a:cs typeface="Roboto"/>
                <a:sym typeface="Roboto"/>
              </a:rPr>
              <a:t>244437</a:t>
            </a:r>
            <a:br>
              <a:rPr lang="en" dirty="0">
                <a:solidFill>
                  <a:srgbClr val="FFFFFF"/>
                </a:solidFill>
                <a:latin typeface="Roboto"/>
                <a:ea typeface="Roboto"/>
                <a:cs typeface="Roboto"/>
                <a:sym typeface="Roboto"/>
              </a:rPr>
            </a:br>
            <a:br>
              <a:rPr lang="en" dirty="0">
                <a:solidFill>
                  <a:srgbClr val="FFFFFF"/>
                </a:solidFill>
                <a:latin typeface="Roboto"/>
                <a:ea typeface="Roboto"/>
                <a:cs typeface="Roboto"/>
                <a:sym typeface="Roboto"/>
              </a:rPr>
            </a:br>
            <a:r>
              <a:rPr lang="en" dirty="0">
                <a:solidFill>
                  <a:srgbClr val="FFFFFF"/>
                </a:solidFill>
                <a:latin typeface="Roboto"/>
                <a:ea typeface="Roboto"/>
                <a:cs typeface="Roboto"/>
                <a:sym typeface="Roboto"/>
              </a:rPr>
              <a:t>«</a:t>
            </a:r>
            <a:r>
              <a:rPr lang="en-NL" dirty="0" err="1">
                <a:latin typeface="Roboto"/>
                <a:ea typeface="Roboto"/>
                <a:cs typeface="Roboto"/>
                <a:sym typeface="Roboto"/>
              </a:rPr>
              <a:t>creativebrief</a:t>
            </a:r>
            <a:r>
              <a:rPr lang="en-NL" dirty="0">
                <a:latin typeface="Roboto"/>
                <a:ea typeface="Roboto"/>
                <a:cs typeface="Roboto"/>
                <a:sym typeface="Roboto"/>
              </a:rPr>
              <a:t>/</a:t>
            </a:r>
            <a:r>
              <a:rPr lang="en-NL" dirty="0" err="1">
                <a:latin typeface="Roboto"/>
                <a:ea typeface="Roboto"/>
                <a:cs typeface="Roboto"/>
                <a:sym typeface="Roboto"/>
              </a:rPr>
              <a:t>projectname</a:t>
            </a:r>
            <a:r>
              <a:rPr lang="en" dirty="0">
                <a:solidFill>
                  <a:srgbClr val="FFFFFF"/>
                </a:solidFill>
                <a:latin typeface="Roboto"/>
                <a:ea typeface="Roboto"/>
                <a:cs typeface="Roboto"/>
                <a:sym typeface="Roboto"/>
              </a:rPr>
              <a:t>»</a:t>
            </a:r>
            <a:endParaRPr dirty="0">
              <a:solidFill>
                <a:srgbClr val="FFFFFF"/>
              </a:solidFill>
              <a:latin typeface="Roboto"/>
              <a:ea typeface="Roboto"/>
              <a:cs typeface="Roboto"/>
              <a:sym typeface="Roboto"/>
            </a:endParaRPr>
          </a:p>
        </p:txBody>
      </p:sp>
      <p:sp>
        <p:nvSpPr>
          <p:cNvPr id="94" name="Google Shape;94;p12" descr="Face" title="Face"/>
          <p:cNvSpPr/>
          <p:nvPr/>
        </p:nvSpPr>
        <p:spPr>
          <a:xfrm>
            <a:off x="3749050" y="640075"/>
            <a:ext cx="1371600" cy="1371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[photo]</a:t>
            </a:r>
            <a:endParaRPr/>
          </a:p>
        </p:txBody>
      </p:sp>
      <p:sp>
        <p:nvSpPr>
          <p:cNvPr id="95" name="Google Shape;95;p12"/>
          <p:cNvSpPr txBox="1">
            <a:spLocks noGrp="1"/>
          </p:cNvSpPr>
          <p:nvPr>
            <p:ph type="subTitle" idx="1"/>
          </p:nvPr>
        </p:nvSpPr>
        <p:spPr>
          <a:xfrm>
            <a:off x="548650" y="2571750"/>
            <a:ext cx="2011800" cy="1406525"/>
          </a:xfrm>
          <a:prstGeom prst="rect">
            <a:avLst/>
          </a:prstGeom>
        </p:spPr>
        <p:txBody>
          <a:bodyPr spcFirstLastPara="1" wrap="square" lIns="91425" tIns="91425" rIns="91425" bIns="91425" anchor="b" anchorCtr="0">
            <a:noAutofit/>
          </a:bodyPr>
          <a:lstStyle/>
          <a:p>
            <a:pPr marL="0" indent="0">
              <a:lnSpc>
                <a:spcPct val="104000"/>
              </a:lnSpc>
            </a:pPr>
            <a:r>
              <a:rPr lang="en" sz="1800" dirty="0">
                <a:solidFill>
                  <a:srgbClr val="434343"/>
                </a:solidFill>
              </a:rPr>
              <a:t>Learning Log</a:t>
            </a:r>
            <a:r>
              <a:rPr lang="en" dirty="0">
                <a:solidFill>
                  <a:srgbClr val="434343"/>
                </a:solidFill>
              </a:rPr>
              <a:t> </a:t>
            </a:r>
            <a:endParaRPr sz="1800" dirty="0">
              <a:solidFill>
                <a:srgbClr val="434343"/>
              </a:solidFill>
            </a:endParaRPr>
          </a:p>
          <a:p>
            <a:pPr marL="0" indent="0">
              <a:lnSpc>
                <a:spcPct val="104000"/>
              </a:lnSpc>
              <a:spcBef>
                <a:spcPts val="800"/>
              </a:spcBef>
              <a:spcAft>
                <a:spcPts val="800"/>
              </a:spcAft>
            </a:pPr>
            <a:r>
              <a:rPr lang="en" dirty="0">
                <a:solidFill>
                  <a:srgbClr val="434343"/>
                </a:solidFill>
              </a:rPr>
              <a:t>Year  </a:t>
            </a:r>
            <a:r>
              <a:rPr lang="en-US" dirty="0">
                <a:solidFill>
                  <a:srgbClr val="434343"/>
                </a:solidFill>
              </a:rPr>
              <a:t>1</a:t>
            </a:r>
          </a:p>
          <a:p>
            <a:pPr marL="0" indent="0">
              <a:lnSpc>
                <a:spcPct val="104000"/>
              </a:lnSpc>
              <a:spcBef>
                <a:spcPts val="800"/>
              </a:spcBef>
              <a:spcAft>
                <a:spcPts val="800"/>
              </a:spcAft>
            </a:pPr>
            <a:r>
              <a:rPr lang="en" dirty="0">
                <a:solidFill>
                  <a:srgbClr val="434343"/>
                </a:solidFill>
              </a:rPr>
              <a:t>Block  </a:t>
            </a:r>
            <a:r>
              <a:rPr lang="en-US" dirty="0">
                <a:solidFill>
                  <a:srgbClr val="434343"/>
                </a:solidFill>
              </a:rPr>
              <a:t>A</a:t>
            </a:r>
            <a:endParaRPr sz="1800" dirty="0">
              <a:solidFill>
                <a:srgbClr val="434343"/>
              </a:solidFill>
            </a:endParaRPr>
          </a:p>
        </p:txBody>
      </p:sp>
      <p:sp>
        <p:nvSpPr>
          <p:cNvPr id="4" name="Google Shape;16;p2">
            <a:extLst>
              <a:ext uri="{FF2B5EF4-FFF2-40B4-BE49-F238E27FC236}">
                <a16:creationId xmlns:a16="http://schemas.microsoft.com/office/drawing/2014/main" id="{8758BBB5-F7B4-27C5-E103-E7FBDED4DBC2}"/>
              </a:ext>
            </a:extLst>
          </p:cNvPr>
          <p:cNvSpPr txBox="1"/>
          <p:nvPr/>
        </p:nvSpPr>
        <p:spPr>
          <a:xfrm>
            <a:off x="2560450" y="453569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dirty="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As a student at Breda University of Applied Sciences studying to become a professional, you are required to provide evidence that demonstrates your professional learning and growth during the block. This template is intended to provide you with a well-structured and </a:t>
            </a:r>
            <a:r>
              <a:rPr lang="en" err="1"/>
              <a:t>organised</a:t>
            </a:r>
            <a:r>
              <a:rPr lang="en"/>
              <a:t> format for doing this effectively. Keep in mind that certain competencies may require you to update your evidence every week, and others may have only be relevant during a particular week or two.</a:t>
            </a:r>
            <a:endParaRPr/>
          </a:p>
          <a:p>
            <a:pPr marL="0" lvl="0" indent="0" algn="l" rtl="0">
              <a:spcBef>
                <a:spcPts val="800"/>
              </a:spcBef>
              <a:spcAft>
                <a:spcPts val="0"/>
              </a:spcAft>
              <a:buNone/>
            </a:pPr>
            <a:endParaRPr/>
          </a:p>
          <a:p>
            <a:pPr marL="0" lvl="0" indent="0" algn="l" rtl="0">
              <a:spcBef>
                <a:spcPts val="800"/>
              </a:spcBef>
              <a:spcAft>
                <a:spcPts val="0"/>
              </a:spcAft>
              <a:buNone/>
            </a:pPr>
            <a:r>
              <a:rPr lang="en"/>
              <a:t>With the evidence you present here teachers should get a clear and comprehensive overview of your progress, how you’ve engaged with feedback, as well as your general attitude and performance as a student and as an aspiring professional developer.</a:t>
            </a:r>
            <a:endParaRPr/>
          </a:p>
          <a:p>
            <a:pPr marL="0" lvl="0" indent="0" algn="l" rtl="0">
              <a:spcBef>
                <a:spcPts val="800"/>
              </a:spcBef>
              <a:spcAft>
                <a:spcPts val="0"/>
              </a:spcAft>
              <a:buNone/>
            </a:pPr>
            <a:endParaRPr/>
          </a:p>
          <a:p>
            <a:pPr marL="0" lvl="0" indent="0" algn="l" rtl="0">
              <a:spcBef>
                <a:spcPts val="800"/>
              </a:spcBef>
              <a:spcAft>
                <a:spcPts val="0"/>
              </a:spcAft>
              <a:buNone/>
            </a:pPr>
            <a:r>
              <a:rPr lang="en"/>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a:p>
          <a:p>
            <a:pPr marL="0" lvl="0" indent="0" algn="l" rtl="0">
              <a:spcBef>
                <a:spcPts val="800"/>
              </a:spcBef>
              <a:spcAft>
                <a:spcPts val="0"/>
              </a:spcAft>
              <a:buNone/>
            </a:pPr>
            <a:endParaRPr/>
          </a:p>
          <a:p>
            <a:pPr marL="0" lvl="0" indent="0" algn="l" rtl="0">
              <a:spcBef>
                <a:spcPts val="800"/>
              </a:spcBef>
              <a:spcAft>
                <a:spcPts val="800"/>
              </a:spcAft>
              <a:buNone/>
            </a:pPr>
            <a:r>
              <a:rPr lang="en"/>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Log</a:t>
            </a:r>
            <a:endParaRPr/>
          </a:p>
          <a:p>
            <a:pPr marL="0" lvl="0" indent="0" algn="ctr" rtl="0">
              <a:spcBef>
                <a:spcPts val="0"/>
              </a:spcBef>
              <a:spcAft>
                <a:spcPts val="0"/>
              </a:spcAft>
              <a:buNone/>
            </a:pPr>
            <a:r>
              <a:rPr lang="en"/>
              <a:t>Structure</a:t>
            </a:r>
            <a:endParaRPr/>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t>Section A</a:t>
            </a:r>
            <a:endParaRPr sz="1400"/>
          </a:p>
          <a:p>
            <a:pPr marL="182880" lvl="0" indent="-180340" algn="l" rtl="0">
              <a:spcBef>
                <a:spcPts val="0"/>
              </a:spcBef>
              <a:spcAft>
                <a:spcPts val="0"/>
              </a:spcAft>
              <a:buSzPts val="1400"/>
              <a:buChar char="●"/>
            </a:pPr>
            <a:r>
              <a:rPr lang="en" sz="1400"/>
              <a:t>Starting this block</a:t>
            </a:r>
            <a:endParaRPr sz="1400"/>
          </a:p>
          <a:p>
            <a:pPr marL="182880" lvl="0" indent="-180340" algn="l" rtl="0">
              <a:spcBef>
                <a:spcPts val="0"/>
              </a:spcBef>
              <a:spcAft>
                <a:spcPts val="0"/>
              </a:spcAft>
              <a:buSzPts val="1400"/>
              <a:buChar char="●"/>
            </a:pPr>
            <a:r>
              <a:rPr lang="en" sz="1400"/>
              <a:t>Goals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B </a:t>
            </a:r>
            <a:endParaRPr sz="1400"/>
          </a:p>
          <a:p>
            <a:pPr marL="182880" lvl="0" indent="-180340" algn="l" rtl="0">
              <a:spcBef>
                <a:spcPts val="0"/>
              </a:spcBef>
              <a:spcAft>
                <a:spcPts val="0"/>
              </a:spcAft>
              <a:buSzPts val="1400"/>
              <a:buChar char="●"/>
            </a:pPr>
            <a:r>
              <a:rPr lang="en" sz="1400"/>
              <a:t>ILO section</a:t>
            </a:r>
            <a:endParaRPr sz="1400"/>
          </a:p>
          <a:p>
            <a:pPr marL="182880" lvl="0" indent="-180340" algn="l" rtl="0">
              <a:spcBef>
                <a:spcPts val="0"/>
              </a:spcBef>
              <a:spcAft>
                <a:spcPts val="0"/>
              </a:spcAft>
              <a:buSzPts val="1400"/>
              <a:buChar char="●"/>
            </a:pPr>
            <a:r>
              <a:rPr lang="en" sz="1400"/>
              <a:t>Week log section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C</a:t>
            </a:r>
            <a:endParaRPr sz="1400"/>
          </a:p>
          <a:p>
            <a:pPr marL="182880" lvl="0" indent="-180340" algn="l" rtl="0">
              <a:spcBef>
                <a:spcPts val="0"/>
              </a:spcBef>
              <a:spcAft>
                <a:spcPts val="0"/>
              </a:spcAft>
              <a:buSzPts val="1400"/>
              <a:buChar char="●"/>
            </a:pPr>
            <a:r>
              <a:rPr lang="en" sz="1400"/>
              <a:t>Block reflection</a:t>
            </a:r>
            <a:endParaRPr sz="140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dirty="0"/>
              <a:t>Section A - My Plan 		</a:t>
            </a:r>
            <a:r>
              <a:rPr lang="en-US" i="1" dirty="0"/>
              <a:t>Not required in this block</a:t>
            </a:r>
            <a:endParaRPr i="1" u="sng" dirty="0"/>
          </a:p>
          <a:p>
            <a:pPr marL="0" lvl="0" indent="0" algn="l" rtl="0">
              <a:spcBef>
                <a:spcPts val="800"/>
              </a:spcBef>
              <a:spcAft>
                <a:spcPts val="0"/>
              </a:spcAft>
              <a:buNone/>
            </a:pPr>
            <a:r>
              <a:rPr lang="en" dirty="0"/>
              <a:t>Your plan describes your goals for the block. Starting with where you are right now, where do you want to be at the end of the block? I.e. what role(s) will you take responsibility for, and how will you demonstrate progress relevant to the ILOs for this block? What tasks and deliverables are best aligned with your role and the project brief?</a:t>
            </a:r>
            <a:endParaRPr dirty="0"/>
          </a:p>
          <a:p>
            <a:pPr marL="0" lvl="0" indent="0" algn="l" rtl="0">
              <a:spcBef>
                <a:spcPts val="800"/>
              </a:spcBef>
              <a:spcAft>
                <a:spcPts val="0"/>
              </a:spcAft>
              <a:buNone/>
            </a:pPr>
            <a:r>
              <a:rPr lang="en" sz="1200" b="1" u="sng" dirty="0"/>
              <a:t>Section B - ILO’s		</a:t>
            </a:r>
            <a:r>
              <a:rPr lang="en" i="1" dirty="0"/>
              <a:t>Must be completed in </a:t>
            </a:r>
            <a:r>
              <a:rPr lang="en" i="1" u="sng" dirty="0"/>
              <a:t>week 8</a:t>
            </a:r>
            <a:r>
              <a:rPr lang="en" i="1" dirty="0"/>
              <a:t>, but should be updated </a:t>
            </a:r>
            <a:r>
              <a:rPr lang="en" i="1" u="sng" dirty="0"/>
              <a:t>regularly</a:t>
            </a:r>
            <a:endParaRPr i="1" u="sng" dirty="0"/>
          </a:p>
          <a:p>
            <a:pPr marL="0" lvl="0" indent="0" algn="l" rtl="0">
              <a:spcBef>
                <a:spcPts val="800"/>
              </a:spcBef>
              <a:spcAft>
                <a:spcPts val="0"/>
              </a:spcAft>
              <a:buNone/>
            </a:pPr>
            <a:r>
              <a:rPr lang="en" dirty="0"/>
              <a:t>This is where you link your evidence to each of the Intended Learning Outcomes of this block.</a:t>
            </a:r>
            <a:endParaRPr dirty="0"/>
          </a:p>
          <a:p>
            <a:pPr marL="0" lvl="0" indent="0" algn="l" rtl="0">
              <a:spcBef>
                <a:spcPts val="800"/>
              </a:spcBef>
              <a:spcAft>
                <a:spcPts val="0"/>
              </a:spcAft>
              <a:buNone/>
            </a:pPr>
            <a:r>
              <a:rPr lang="en" sz="1200" b="1" u="sng" dirty="0"/>
              <a:t>Section C - Weekly Log	</a:t>
            </a:r>
            <a:r>
              <a:rPr lang="en" i="1" dirty="0"/>
              <a:t>Must be updated </a:t>
            </a:r>
            <a:r>
              <a:rPr lang="en" i="1" u="sng" dirty="0"/>
              <a:t>every week</a:t>
            </a:r>
            <a:endParaRPr i="1" u="sng" dirty="0"/>
          </a:p>
          <a:p>
            <a:pPr marL="0" lvl="0" indent="0" algn="l" rtl="0">
              <a:spcBef>
                <a:spcPts val="800"/>
              </a:spcBef>
              <a:spcAft>
                <a:spcPts val="0"/>
              </a:spcAft>
              <a:buNone/>
            </a:pPr>
            <a:r>
              <a:rPr lang="en" dirty="0"/>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dirty="0"/>
          </a:p>
          <a:p>
            <a:pPr marL="0" lvl="0" indent="0" algn="l" rtl="0">
              <a:spcBef>
                <a:spcPts val="800"/>
              </a:spcBef>
              <a:spcAft>
                <a:spcPts val="0"/>
              </a:spcAft>
              <a:buNone/>
            </a:pPr>
            <a:r>
              <a:rPr lang="en" dirty="0"/>
              <a:t>In such cases, you simply need to provide links to those artifacts and may include any explanatory comment or reflection you feel is appropriate. </a:t>
            </a:r>
            <a:endParaRPr dirty="0"/>
          </a:p>
          <a:p>
            <a:pPr marL="0" lvl="0" indent="0" algn="l" rtl="0">
              <a:spcBef>
                <a:spcPts val="800"/>
              </a:spcBef>
              <a:spcAft>
                <a:spcPts val="0"/>
              </a:spcAft>
              <a:buNone/>
            </a:pPr>
            <a:r>
              <a:rPr lang="en" dirty="0"/>
              <a:t>(Some reflection is almost always a good idea as it provides the foundation for Section C.)</a:t>
            </a:r>
            <a:endParaRPr dirty="0"/>
          </a:p>
          <a:p>
            <a:pPr marL="0" lvl="0" indent="0" algn="l" rtl="0">
              <a:spcBef>
                <a:spcPts val="800"/>
              </a:spcBef>
              <a:spcAft>
                <a:spcPts val="0"/>
              </a:spcAft>
              <a:buNone/>
            </a:pPr>
            <a:r>
              <a:rPr lang="en" sz="1200" b="1" u="sng" dirty="0"/>
              <a:t>Section D - Reflection	</a:t>
            </a:r>
            <a:r>
              <a:rPr lang="en" i="1" dirty="0"/>
              <a:t>Must be completed in </a:t>
            </a:r>
            <a:r>
              <a:rPr lang="en" i="1" u="sng" dirty="0"/>
              <a:t>week 8</a:t>
            </a:r>
            <a:endParaRPr i="1" u="sng" dirty="0"/>
          </a:p>
          <a:p>
            <a:pPr marL="0" lvl="0" indent="0" algn="l" rtl="0">
              <a:spcBef>
                <a:spcPts val="800"/>
              </a:spcBef>
              <a:spcAft>
                <a:spcPts val="800"/>
              </a:spcAft>
              <a:buNone/>
            </a:pPr>
            <a:r>
              <a:rPr lang="en" dirty="0"/>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A</a:t>
            </a:r>
            <a:endParaRPr sz="40000">
              <a:solidFill>
                <a:srgbClr val="999999"/>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4E84F48E-9152-454D-9754-FA0D0AD81F68}"/>
              </a:ext>
            </a:extLst>
          </p:cNvPr>
          <p:cNvSpPr/>
          <p:nvPr/>
        </p:nvSpPr>
        <p:spPr>
          <a:xfrm>
            <a:off x="2033752" y="404648"/>
            <a:ext cx="6232634" cy="7304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t>NOT IN BLOCK A – IGNORE THIS SLIDE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1 - Log</a:t>
            </a:r>
            <a:endParaRPr lang="en-US"/>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a:t>
            </a:r>
            <a:r>
              <a:rPr lang="en" dirty="0"/>
              <a:t>or the first week I just don’t want to get beyonds others it is a bit strange for me because I have never worked with github and also I’m not used to write down everything that I’m doing.</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US" dirty="0"/>
              <a:t>F</a:t>
            </a:r>
            <a:r>
              <a:rPr lang="en" dirty="0"/>
              <a:t>or this week I’m just able to log in to github and make a link for my evidence.</a:t>
            </a:r>
          </a:p>
          <a:p>
            <a:pPr marL="27940" lvl="0" indent="0" algn="l" rtl="0">
              <a:spcBef>
                <a:spcPts val="0"/>
              </a:spcBef>
              <a:spcAft>
                <a:spcPts val="0"/>
              </a:spcAft>
              <a:buSzPts val="1000"/>
              <a:buNone/>
            </a:pPr>
            <a:r>
              <a:rPr lang="en" dirty="0"/>
              <a:t>also able to do a good presentation and I learned what should I do for the final presentation.</a:t>
            </a: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hlinkClick r:id="rId3"/>
              </a:rPr>
              <a:t>https://github.com/BredaUniversityADSAI/2024-25A-FAI1-ADSAI--MohammadaliJaberi244437/blob/main/2.%20Conditional%20execution.ipynb</a:t>
            </a:r>
            <a:endParaRPr lang="en-US" dirty="0"/>
          </a:p>
          <a:p>
            <a:pPr marL="27940" lvl="0" indent="0" algn="l" rtl="0">
              <a:spcBef>
                <a:spcPts val="0"/>
              </a:spcBef>
              <a:spcAft>
                <a:spcPts val="0"/>
              </a:spcAft>
              <a:buSzPts val="1000"/>
              <a:buNone/>
            </a:pPr>
            <a:r>
              <a:rPr lang="en-US" dirty="0"/>
              <a:t>This is my evidence about python.</a:t>
            </a:r>
            <a:endParaRPr lang="en"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a:t>
            </a:r>
            <a:r>
              <a:rPr lang="en" dirty="0"/>
              <a:t>he first week wasn’t good for me. I stucked at github and it was a little bit confusing for me. </a:t>
            </a:r>
          </a:p>
          <a:p>
            <a:pPr marL="27940" lvl="0" indent="0" algn="l" rtl="0">
              <a:spcBef>
                <a:spcPts val="0"/>
              </a:spcBef>
              <a:spcAft>
                <a:spcPts val="0"/>
              </a:spcAft>
              <a:buSzPts val="1000"/>
              <a:buNone/>
            </a:pPr>
            <a:r>
              <a:rPr lang="en" dirty="0"/>
              <a:t>I watched the movie and I found it boring for my self so I have to choose </a:t>
            </a:r>
            <a:r>
              <a:rPr lang="en-US" dirty="0"/>
              <a:t>O</a:t>
            </a:r>
            <a:r>
              <a:rPr lang="en" dirty="0"/>
              <a:t>ther movie to can make a presentation from it.</a:t>
            </a:r>
          </a:p>
          <a:p>
            <a:pPr marL="27940" lvl="0" indent="0" algn="l" rtl="0">
              <a:spcBef>
                <a:spcPts val="0"/>
              </a:spcBef>
              <a:spcAft>
                <a:spcPts val="0"/>
              </a:spcAft>
              <a:buSzPts val="1000"/>
              <a:buNone/>
            </a:pPr>
            <a:r>
              <a:rPr lang="en" dirty="0"/>
              <a:t>I also practice Python a bit to be ready for that.</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 dirty="0"/>
              <a:t>I think Python for me went well because I am familiar with this programing and it was good for me.</a:t>
            </a:r>
            <a:endParaRPr dirty="0"/>
          </a:p>
          <a:p>
            <a:pPr marL="182880" lvl="0" indent="-154940" algn="l" rtl="0">
              <a:spcBef>
                <a:spcPts val="0"/>
              </a:spcBef>
              <a:spcAft>
                <a:spcPts val="0"/>
              </a:spcAft>
              <a:buSzPts val="1000"/>
              <a:buChar char="●"/>
            </a:pPr>
            <a:r>
              <a:rPr lang="en" dirty="0"/>
              <a:t>What didn’t go so well?</a:t>
            </a:r>
          </a:p>
          <a:p>
            <a:pPr marL="27940" lvl="0" indent="0" algn="l" rtl="0">
              <a:spcBef>
                <a:spcPts val="0"/>
              </a:spcBef>
              <a:spcAft>
                <a:spcPts val="0"/>
              </a:spcAft>
              <a:buSzPts val="1000"/>
              <a:buNone/>
            </a:pPr>
            <a:r>
              <a:rPr lang="en" dirty="0"/>
              <a:t>Github and movie also finding  a good subject for presentation.</a:t>
            </a:r>
          </a:p>
          <a:p>
            <a:pPr marL="27940" lvl="0" indent="0" algn="l" rtl="0">
              <a:spcBef>
                <a:spcPts val="0"/>
              </a:spcBef>
              <a:spcAft>
                <a:spcPts val="0"/>
              </a:spcAft>
              <a:buSzPts val="1000"/>
              <a:buNone/>
            </a:pPr>
            <a:r>
              <a:rPr lang="en" dirty="0"/>
              <a:t>I’m still looking for a good movie to can make a good presentation.</a:t>
            </a:r>
          </a:p>
          <a:p>
            <a:pPr marL="27940" lvl="0" indent="0" algn="l" rtl="0">
              <a:spcBef>
                <a:spcPts val="0"/>
              </a:spcBef>
              <a:spcAft>
                <a:spcPts val="0"/>
              </a:spcAft>
              <a:buSzPts val="1000"/>
              <a:buNone/>
            </a:pPr>
            <a:r>
              <a:rPr lang="en" dirty="0"/>
              <a:t> </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 dirty="0"/>
              <a:t>I learned hoe to use github and how can I make a evidence for what I do during a day.</a:t>
            </a:r>
          </a:p>
          <a:p>
            <a:pPr marL="27940" lvl="0" indent="0" algn="l" rtl="0">
              <a:spcBef>
                <a:spcPts val="0"/>
              </a:spcBef>
              <a:spcAft>
                <a:spcPts val="0"/>
              </a:spcAft>
              <a:buSzPts val="1000"/>
              <a:buNone/>
            </a:pPr>
            <a:r>
              <a:rPr lang="en" dirty="0"/>
              <a:t>I learned how to make presentation based on the context and also feedback from my mentor and other student.</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W</a:t>
            </a:r>
            <a:r>
              <a:rPr lang="en" dirty="0"/>
              <a:t>ork more with github to be more familiar with this because I think it is going to very usefull during my course.</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1 - Feedback</a:t>
            </a:r>
            <a:endParaRPr/>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Student feedback </a:t>
            </a:r>
            <a:br>
              <a:rPr lang="en" b="1" dirty="0"/>
            </a:br>
            <a:r>
              <a:rPr lang="en" b="1" dirty="0"/>
              <a:t>I got feed back from Barsam and he told me I should explain more about what I do during the week and he taught me how to make a evidence in github and from now I will try to do ir better.</a:t>
            </a:r>
            <a:endParaRPr lang="en-US"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 name="TextBox 1">
            <a:extLst>
              <a:ext uri="{FF2B5EF4-FFF2-40B4-BE49-F238E27FC236}">
                <a16:creationId xmlns:a16="http://schemas.microsoft.com/office/drawing/2014/main" id="{7D431F1F-F634-7FA5-06F3-E9A2BA1F45DE}"/>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Log</a:t>
            </a:r>
            <a:endParaRPr/>
          </a:p>
        </p:txBody>
      </p:sp>
      <p:sp>
        <p:nvSpPr>
          <p:cNvPr id="203" name="Google Shape;203;p24"/>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04" name="Google Shape;204;p24"/>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05" name="Google Shape;205;p24"/>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 dirty="0"/>
              <a:t>For this week I have completed the Math test and I’ve got 75% which I expected more from my self so, I will practice more in math to cover up for the first test and also for second test.</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 dirty="0"/>
              <a:t>In this week I practice Python I’m really into it and I can do pragraming with loops and conditional. I also learned how AI invented and who invent first robots.</a:t>
            </a:r>
          </a:p>
          <a:p>
            <a:pPr marL="27940" lvl="0" indent="0" algn="l" rtl="0">
              <a:spcBef>
                <a:spcPts val="0"/>
              </a:spcBef>
              <a:spcAft>
                <a:spcPts val="0"/>
              </a:spcAft>
              <a:buSzPts val="1000"/>
              <a:buNone/>
            </a:pPr>
            <a:r>
              <a:rPr lang="en" dirty="0"/>
              <a:t>I learned about the different types of machine.</a:t>
            </a:r>
          </a:p>
          <a:p>
            <a:pPr marL="27940" lvl="0" indent="0" algn="l" rtl="0">
              <a:spcBef>
                <a:spcPts val="0"/>
              </a:spcBef>
              <a:spcAft>
                <a:spcPts val="0"/>
              </a:spcAft>
              <a:buSzPts val="1000"/>
              <a:buNone/>
            </a:pPr>
            <a:r>
              <a:rPr lang="en-US" dirty="0"/>
              <a:t>The different types of Machine learning.</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hlinkClick r:id="rId3"/>
              </a:rPr>
              <a:t>https://github.com/BredaUniversityADSAI/2024-25A-FAI1-ADSAI--MohammadaliJaberi244437/blob/main/4.%20Loops%20(2)%20anjam%20shode.ipynb</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This is loops notebook </a:t>
            </a:r>
            <a:endParaRPr lang="en" dirty="0"/>
          </a:p>
          <a:p>
            <a:pPr marL="27940" lvl="0" indent="0" algn="l" rtl="0">
              <a:spcBef>
                <a:spcPts val="0"/>
              </a:spcBef>
              <a:spcAft>
                <a:spcPts val="0"/>
              </a:spcAft>
              <a:buSzPts val="1000"/>
              <a:buNone/>
            </a:pPr>
            <a:endParaRPr lang="en" dirty="0"/>
          </a:p>
        </p:txBody>
      </p:sp>
      <p:sp>
        <p:nvSpPr>
          <p:cNvPr id="206" name="Google Shape;206;p24"/>
          <p:cNvSpPr txBox="1">
            <a:spLocks noGrp="1"/>
          </p:cNvSpPr>
          <p:nvPr>
            <p:ph type="body" idx="3"/>
          </p:nvPr>
        </p:nvSpPr>
        <p:spPr>
          <a:xfrm>
            <a:off x="4666627" y="691265"/>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 dirty="0"/>
              <a:t>Actually I’m happy with this week more than last week I am feeling more comfortable this week also I learned how to complete my learning log and the worklog.</a:t>
            </a:r>
          </a:p>
          <a:p>
            <a:pPr marL="27940" lvl="0" indent="0" algn="l" rtl="0">
              <a:spcBef>
                <a:spcPts val="0"/>
              </a:spcBef>
              <a:spcAft>
                <a:spcPts val="0"/>
              </a:spcAft>
              <a:buSzPts val="1000"/>
              <a:buNone/>
            </a:pPr>
            <a:r>
              <a:rPr lang="en-US" dirty="0"/>
              <a:t>H</a:t>
            </a:r>
            <a:r>
              <a:rPr lang="en" dirty="0"/>
              <a:t>onestly I was really worried about these two.</a:t>
            </a:r>
          </a:p>
          <a:p>
            <a:pPr marL="27940" lvl="0" indent="0" algn="l" rtl="0">
              <a:spcBef>
                <a:spcPts val="0"/>
              </a:spcBef>
              <a:spcAft>
                <a:spcPts val="0"/>
              </a:spcAft>
              <a:buSzPts val="1000"/>
              <a:buNone/>
            </a:pPr>
            <a:r>
              <a:rPr lang="en" dirty="0"/>
              <a:t>Just I think I messed up the math quiez and I hope to can do better in a next week.</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US" dirty="0"/>
              <a:t>S</a:t>
            </a:r>
            <a:r>
              <a:rPr lang="en" dirty="0"/>
              <a:t>ame as last week I think I feel comfortable in Python because I really into it and I don’t get tired from this.</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 dirty="0"/>
              <a:t>The math quizz did not go well and I just took a movie for my presentation and I was’nt able to watched it because I’m trying to watch this movie free because I want to watche this movie for 2 or 3 times to can evaluate it as much as I can</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 dirty="0"/>
              <a:t>In this week I learned about the machine learning and AI,</a:t>
            </a:r>
          </a:p>
          <a:p>
            <a:pPr marL="27940" lvl="0" indent="0" algn="l" rtl="0">
              <a:spcBef>
                <a:spcPts val="0"/>
              </a:spcBef>
              <a:spcAft>
                <a:spcPts val="0"/>
              </a:spcAft>
              <a:buSzPts val="1000"/>
              <a:buNone/>
            </a:pPr>
            <a:r>
              <a:rPr lang="en-US" dirty="0"/>
              <a:t>A</a:t>
            </a:r>
            <a:r>
              <a:rPr lang="en" dirty="0"/>
              <a:t>bout the differnce between machine which one is rule based and which one is more complex .</a:t>
            </a:r>
          </a:p>
          <a:p>
            <a:pPr marL="27940" lvl="0" indent="0" algn="l" rtl="0">
              <a:spcBef>
                <a:spcPts val="0"/>
              </a:spcBef>
              <a:spcAft>
                <a:spcPts val="0"/>
              </a:spcAft>
              <a:buSzPts val="1000"/>
              <a:buNone/>
            </a:pPr>
            <a:r>
              <a:rPr lang="en-US" dirty="0"/>
              <a:t>T</a:t>
            </a:r>
            <a:r>
              <a:rPr lang="en" dirty="0"/>
              <a:t>he advantage and disadvantage of them </a:t>
            </a:r>
          </a:p>
          <a:p>
            <a:pPr marL="27940" lvl="0" indent="0" algn="l" rtl="0">
              <a:spcBef>
                <a:spcPts val="0"/>
              </a:spcBef>
              <a:spcAft>
                <a:spcPts val="0"/>
              </a:spcAft>
              <a:buSzPts val="1000"/>
              <a:buNone/>
            </a:pPr>
            <a:r>
              <a:rPr lang="en" dirty="0"/>
              <a:t>I learned about the data analysis and also DIKW pyramid.</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for sure it would be Math and also study more about the machine learning and deep learning.</a:t>
            </a:r>
            <a:endParaRPr dirty="0"/>
          </a:p>
        </p:txBody>
      </p:sp>
      <p:sp>
        <p:nvSpPr>
          <p:cNvPr id="207" name="Google Shape;207;p24"/>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08" name="Google Shape;208;p24"/>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2</a:t>
            </a:r>
            <a:endParaRPr/>
          </a:p>
        </p:txBody>
      </p:sp>
      <p:sp>
        <p:nvSpPr>
          <p:cNvPr id="209" name="Google Shape;209;p24"/>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Feedback</a:t>
            </a:r>
            <a:endParaRPr/>
          </a:p>
        </p:txBody>
      </p:sp>
      <p:sp>
        <p:nvSpPr>
          <p:cNvPr id="215" name="Google Shape;215;p25"/>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16" name="Google Shape;216;p25"/>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US" dirty="0"/>
              <a:t>T</a:t>
            </a:r>
            <a:r>
              <a:rPr lang="en" dirty="0"/>
              <a:t>here was an feed back session but becaus</a:t>
            </a:r>
            <a:r>
              <a:rPr lang="en-US" dirty="0"/>
              <a:t>e</a:t>
            </a:r>
            <a:r>
              <a:rPr lang="en" dirty="0"/>
              <a:t> I was sick I did not rec</a:t>
            </a:r>
            <a:r>
              <a:rPr lang="en-US" dirty="0" err="1"/>
              <a:t>ei</a:t>
            </a:r>
            <a:r>
              <a:rPr lang="en" dirty="0"/>
              <a:t>ve any feeback.</a:t>
            </a:r>
            <a:endParaRPr dirty="0"/>
          </a:p>
        </p:txBody>
      </p:sp>
      <p:sp>
        <p:nvSpPr>
          <p:cNvPr id="217" name="Google Shape;217;p25"/>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218" name="Google Shape;218;p25"/>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2" name="TextBox 1">
            <a:extLst>
              <a:ext uri="{FF2B5EF4-FFF2-40B4-BE49-F238E27FC236}">
                <a16:creationId xmlns:a16="http://schemas.microsoft.com/office/drawing/2014/main" id="{B5758ED6-2E5B-74B1-2664-A630EA9A95AF}"/>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T</a:t>
            </a:r>
            <a:r>
              <a:rPr lang="en" dirty="0"/>
              <a:t>o make a good presentation and try not make it full of text use bullet point and try to memorize it to have a good presentation.</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US" dirty="0"/>
              <a:t>I’m able to programing with variable, condition and also I’m able to define about ML and also data science .</a:t>
            </a:r>
          </a:p>
          <a:p>
            <a:pPr marL="199390" indent="-171450"/>
            <a:r>
              <a:rPr lang="en" dirty="0"/>
              <a:t>Showcase the evidence of your progress (production artifacts, short descriptions-links-pictures animated gifs, etc.)</a:t>
            </a:r>
          </a:p>
          <a:p>
            <a:pPr marL="27940" indent="0">
              <a:buNone/>
            </a:pPr>
            <a:r>
              <a:rPr lang="en-US" dirty="0"/>
              <a:t>so, It is my presentation which I worked on it.</a:t>
            </a:r>
          </a:p>
          <a:p>
            <a:pPr marL="27940" indent="0">
              <a:buNone/>
            </a:pPr>
            <a:r>
              <a:rPr lang="en-US" dirty="0"/>
              <a:t>I think I had a good information just I couldn’t present it very well.</a:t>
            </a:r>
            <a:endParaRPr lang="en" dirty="0"/>
          </a:p>
          <a:p>
            <a:pPr marL="199390" indent="-171450"/>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 dirty="0"/>
              <a:t>The week went well I could make and prepare a good presentation and I also got the good points from math quize.</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US" dirty="0"/>
              <a:t>B</a:t>
            </a:r>
            <a:r>
              <a:rPr lang="en" dirty="0"/>
              <a:t>asically I think math quiz and programing went well and also the part to prepare a good presentation was good.</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US" dirty="0"/>
              <a:t>M</a:t>
            </a:r>
            <a:r>
              <a:rPr lang="en" dirty="0"/>
              <a:t>y presentation details was complete but the problem was I couldn’t present it very well and I totally forgot what I memorized to say.</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 dirty="0"/>
              <a:t>I lerned I need to work more for presenting because I have other presentation at the end of block A.</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Practice more on Math to get better result in final exam and same situation for Python programing.</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a:extLst>
              <a:ext uri="{FF2B5EF4-FFF2-40B4-BE49-F238E27FC236}">
                <a16:creationId xmlns:a16="http://schemas.microsoft.com/office/drawing/2014/main" id="{456EB378-E186-4378-60AC-D6A324E6F58E}"/>
              </a:ext>
            </a:extLst>
          </p:cNvPr>
          <p:cNvSpPr>
            <a:spLocks noChangeArrowheads="1"/>
          </p:cNvSpPr>
          <p:nvPr/>
        </p:nvSpPr>
        <p:spPr bwMode="auto">
          <a:xfrm>
            <a:off x="182875" y="308143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3"/>
              </a:rPr>
              <a:t>244437.mp4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US" dirty="0"/>
              <a:t>I’ve got feedback from some peers and as I mentioned I just wasn’t good at present it and I had a good and complete information.</a:t>
            </a:r>
          </a:p>
          <a:p>
            <a:pPr marL="0" lvl="0" indent="0" algn="l" rtl="0">
              <a:spcBef>
                <a:spcPts val="800"/>
              </a:spcBef>
              <a:spcAft>
                <a:spcPts val="800"/>
              </a:spcAft>
              <a:buNone/>
            </a:pPr>
            <a:r>
              <a:rPr lang="en-US" dirty="0"/>
              <a:t>They also said it wasn’t full of text you used bullet point which make it easier to understand for audience. </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 name="TextBox 1">
            <a:extLst>
              <a:ext uri="{FF2B5EF4-FFF2-40B4-BE49-F238E27FC236}">
                <a16:creationId xmlns:a16="http://schemas.microsoft.com/office/drawing/2014/main" id="{921731BA-FB23-96B8-7D5B-D22581CDAED5}"/>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6167" y="1152698"/>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 dirty="0"/>
              <a:t>For this week I started really hard to be able have a good presentation at the end of this Block because I heard that is really important and I need to work on it more that the last ones</a:t>
            </a:r>
            <a:endParaRPr dirty="0"/>
          </a:p>
          <a:p>
            <a:pPr marL="182880" lvl="0" indent="-154940" algn="l" rtl="0">
              <a:spcBef>
                <a:spcPts val="0"/>
              </a:spcBef>
              <a:spcAft>
                <a:spcPts val="0"/>
              </a:spcAft>
              <a:buSzPts val="1000"/>
              <a:buChar char="●"/>
            </a:pPr>
            <a:r>
              <a:rPr lang="en" dirty="0"/>
              <a:t>What have you actually been able to do?</a:t>
            </a:r>
          </a:p>
          <a:p>
            <a:pPr marL="27940" lvl="0" indent="0" algn="l" rtl="0">
              <a:spcBef>
                <a:spcPts val="0"/>
              </a:spcBef>
              <a:spcAft>
                <a:spcPts val="0"/>
              </a:spcAft>
              <a:buSzPts val="1000"/>
              <a:buNone/>
            </a:pPr>
            <a:r>
              <a:rPr lang="en" dirty="0"/>
              <a:t>Now I feel comfortable with programing I have to work more on math. </a:t>
            </a: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br>
              <a:rPr lang="en" dirty="0"/>
            </a:br>
            <a:r>
              <a:rPr lang="en-US" dirty="0">
                <a:hlinkClick r:id="rId3"/>
              </a:rPr>
              <a:t>https://github.com/BredaUniversityADSAI/2024-25A-FAI1-ADSAI--MohammadaliJaberi244437/blob/main/certificate(1).pdf</a:t>
            </a:r>
            <a:endParaRPr lang="en-US" dirty="0"/>
          </a:p>
          <a:p>
            <a:pPr marL="182880" lvl="0" indent="-154940" algn="l" rtl="0">
              <a:spcBef>
                <a:spcPts val="0"/>
              </a:spcBef>
              <a:spcAft>
                <a:spcPts val="0"/>
              </a:spcAft>
              <a:buSzPts val="1000"/>
              <a:buChar char="●"/>
            </a:pPr>
            <a:endParaRPr lang="en-US" dirty="0"/>
          </a:p>
          <a:p>
            <a:pPr marL="27940" lvl="0" indent="0" algn="l" rtl="0">
              <a:spcBef>
                <a:spcPts val="0"/>
              </a:spcBef>
              <a:spcAft>
                <a:spcPts val="0"/>
              </a:spcAft>
              <a:buSzPts val="1000"/>
              <a:buNone/>
            </a:pPr>
            <a:r>
              <a:rPr lang="en-US" dirty="0"/>
              <a:t>it is the evidence of data camp course as I said I’m really worried about Power Bi and I don’t feel comfortable on it so I think I need to work more and see other course in my language to understand better.</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 dirty="0"/>
              <a:t>It was really good I tried my best to make up my lost time in first two weeks and I think for the next week I’m able to be with others</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US" dirty="0"/>
              <a:t>A</a:t>
            </a:r>
            <a:r>
              <a:rPr lang="en" dirty="0"/>
              <a:t>gain Programing for me went very weel I don’t know maybe because I liked it so much It doesn’t bother me at all.</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 dirty="0"/>
              <a:t>I said I started the python programing but in this week I was very busy with my stauffs so I couldn’t start it but I will do it to get vertificate for this.</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 dirty="0"/>
              <a:t>I learned about Data Analyst in this week that what are they suppose to do and how are they working.</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A</a:t>
            </a:r>
            <a:r>
              <a:rPr lang="en" dirty="0"/>
              <a:t>s I mentioned I think the course I started I will continue it to can finish it as soon as possible.</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973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 dirty="0"/>
              <a:t>In this feedback session Dean helped me with my worklog to correct some parts and also catch some parts that I was not able to complete it.</a:t>
            </a:r>
            <a:br>
              <a:rPr lang="en" dirty="0"/>
            </a:br>
            <a:r>
              <a:rPr lang="en-US" dirty="0"/>
              <a:t>W</a:t>
            </a:r>
            <a:r>
              <a:rPr lang="en" dirty="0"/>
              <a:t>e also talked about my presentation and my research question.</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 name="TextBox 1">
            <a:extLst>
              <a:ext uri="{FF2B5EF4-FFF2-40B4-BE49-F238E27FC236}">
                <a16:creationId xmlns:a16="http://schemas.microsoft.com/office/drawing/2014/main" id="{D4F2C1F4-CF58-BC86-92ED-7A05955F6389}"/>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3366952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a:t>
            </a:r>
            <a:r>
              <a:rPr lang="en" dirty="0"/>
              <a:t>or my up comeing week I want to go forward step by step I mean first focus on math exam and then python and the last one is Power BI but because I feel worried about it I think I have to work on Power BI dashboard every day to be able have a good presentation.</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US" dirty="0"/>
              <a:t>F</a:t>
            </a:r>
            <a:r>
              <a:rPr lang="en" dirty="0"/>
              <a:t>or the week 5 I can say I’m kind of ready for the math exam and I practiced a lot in Khan academy.</a:t>
            </a: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hlinkClick r:id="rId3"/>
              </a:rPr>
              <a:t>https://github.com/BredaUniversityADSAI/2024-25A-FAI1-ADSAI--MohammadaliJaberi244437/blob/main/week%205%20Friday%20khan%20academy.png</a:t>
            </a:r>
            <a:endParaRPr lang="en" dirty="0"/>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T</a:t>
            </a:r>
            <a:r>
              <a:rPr lang="en" dirty="0"/>
              <a:t>his is my evidence of Khan academy </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a:t>
            </a:r>
          </a:p>
          <a:p>
            <a:pPr marL="27940" lvl="0" indent="0" algn="l" rtl="0">
              <a:spcBef>
                <a:spcPts val="0"/>
              </a:spcBef>
              <a:spcAft>
                <a:spcPts val="0"/>
              </a:spcAft>
              <a:buSzPts val="1000"/>
              <a:buNone/>
            </a:pPr>
            <a:r>
              <a:rPr lang="en-US" dirty="0"/>
              <a:t>Well, I think I will have a busy weeks each week I have something to do with exams and dashboard. </a:t>
            </a:r>
            <a:br>
              <a:rPr lang="en-US" dirty="0"/>
            </a:br>
            <a:r>
              <a:rPr lang="en-US" dirty="0"/>
              <a:t>It went well but I need to work more.</a:t>
            </a:r>
            <a:r>
              <a:rPr lang="en" dirty="0"/>
              <a:t> </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 dirty="0"/>
              <a:t>Math exams went well but I expected to get a better result that is why I would take a retake to get better result.</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 dirty="0"/>
              <a:t>Dashboard I think I’m behind and I need to collect good source and start doing something</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US" dirty="0"/>
              <a:t>B</a:t>
            </a:r>
            <a:r>
              <a:rPr lang="en" dirty="0"/>
              <a:t>ased on Data camp course I learned how to put data to my dashboard and how to clean it.</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 dirty="0"/>
              <a:t>Just working more and try harder because I do everything well just because I don’t understand some times it took me back and I need to put more time on it.</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40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US" b="1" dirty="0"/>
              <a:t>Mentor feedback</a:t>
            </a:r>
          </a:p>
          <a:p>
            <a:pPr marL="27940" lvl="0" indent="0" algn="l" rtl="0">
              <a:spcBef>
                <a:spcPts val="0"/>
              </a:spcBef>
              <a:spcAft>
                <a:spcPts val="0"/>
              </a:spcAft>
              <a:buSzPts val="1000"/>
              <a:buNone/>
            </a:pPr>
            <a:r>
              <a:rPr lang="en-US" dirty="0"/>
              <a:t>I get Feedback from Dean about my research question and he suggest me to change my research question because my previous research question was to specific and he told me I should pick a some research question to not to be too general and not to be too specific. So I changed my research question to What is the correlation between Increasing food price and overall health community?	</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 name="TextBox 1">
            <a:extLst>
              <a:ext uri="{FF2B5EF4-FFF2-40B4-BE49-F238E27FC236}">
                <a16:creationId xmlns:a16="http://schemas.microsoft.com/office/drawing/2014/main" id="{9592EFFB-9B92-B2C5-0ACF-FDC0DE02C8F4}"/>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1600689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 dirty="0"/>
              <a:t>For this week my goal was to get good point in Python exams which I think I wasn’t successful on it. But it is fair becaue this week I was not able to study an dpractice I was just a bit tired and I couldn’t focus to study.</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 dirty="0"/>
              <a:t>The thing that I really happy about it is Power BI </a:t>
            </a:r>
            <a:br>
              <a:rPr lang="en" dirty="0"/>
            </a:br>
            <a:r>
              <a:rPr lang="en" dirty="0"/>
              <a:t>I learning how to use it and make a graph and make a good presentation I know that </a:t>
            </a:r>
            <a:r>
              <a:rPr lang="en-US" dirty="0"/>
              <a:t>I</a:t>
            </a:r>
            <a:r>
              <a:rPr lang="en" dirty="0"/>
              <a:t>s very useful so I think even after the week 8 I want to learn it better and be pro on it.</a:t>
            </a: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hlinkClick r:id="rId3"/>
              </a:rPr>
              <a:t>https://github.com/BredaUniversityADSAI/2024-25A-FAI1-ADSAI--MohammadaliJaberi244437/blob/main/Week%206%20data%20camp%20Monday.pdf</a:t>
            </a:r>
            <a:endParaRPr lang="en" dirty="0"/>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T</a:t>
            </a:r>
            <a:r>
              <a:rPr lang="en" dirty="0"/>
              <a:t>his is my evidence of data camp course that I learning Power BI</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a:t>
            </a:r>
            <a:r>
              <a:rPr lang="en" dirty="0"/>
              <a:t>he week did not go well and I wasn’t in the mood to study so It wasn’t so good for me.</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US" dirty="0"/>
              <a:t>T</a:t>
            </a:r>
            <a:r>
              <a:rPr lang="en" dirty="0"/>
              <a:t>he only thing that went well was power BI which I LEARN HOW TO USE IT.</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US" dirty="0"/>
              <a:t>Python</a:t>
            </a:r>
            <a:r>
              <a:rPr lang="en" dirty="0"/>
              <a:t> exams wasn’t good for me the orall was good actually but other no.</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 dirty="0"/>
              <a:t>Well </a:t>
            </a:r>
            <a:r>
              <a:rPr lang="en-US" dirty="0"/>
              <a:t>I</a:t>
            </a:r>
            <a:r>
              <a:rPr lang="en" dirty="0"/>
              <a:t> learned or I should say I understand that I have to practice more Python and I really disappointed about my self because I expected good grade in python.</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D</a:t>
            </a:r>
            <a:r>
              <a:rPr lang="en" dirty="0"/>
              <a:t>o not think that exam will be easy and I shouldn’t be in that mode to cannot focus and study.</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163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Student Feedback </a:t>
            </a:r>
          </a:p>
          <a:p>
            <a:pPr marL="27940" lvl="0" indent="0" algn="l" rtl="0">
              <a:spcBef>
                <a:spcPts val="0"/>
              </a:spcBef>
              <a:spcAft>
                <a:spcPts val="0"/>
              </a:spcAft>
              <a:buSzPts val="1000"/>
              <a:buNone/>
            </a:pPr>
            <a:r>
              <a:rPr lang="en-US" dirty="0"/>
              <a:t>Me and my friend did not have a good performances in Python exams so we decide to study and practice this more to be ready for the retake exams. Also I decide to start Python course to learn it better.</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 name="TextBox 1">
            <a:extLst>
              <a:ext uri="{FF2B5EF4-FFF2-40B4-BE49-F238E27FC236}">
                <a16:creationId xmlns:a16="http://schemas.microsoft.com/office/drawing/2014/main" id="{DDFD7B23-1606-58BD-9C84-E92FE2A298BF}"/>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2397875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 dirty="0"/>
              <a:t>For this week my goal was just work on my Dashboard and make it ready for the presentation.</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 dirty="0"/>
              <a:t>I upload my data on it and make some visualization with my data </a:t>
            </a:r>
            <a:br>
              <a:rPr lang="en" dirty="0"/>
            </a:br>
            <a:r>
              <a:rPr lang="en" dirty="0"/>
              <a:t>I cleaned and sort my data to get good visualization </a:t>
            </a: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hlinkClick r:id="rId3"/>
              </a:rPr>
              <a:t>https://github.com/BredaUniversityADSAI/2024-25A-FAI1-ADSAI--MohammadaliJaberi244437/blob/main/certificate(%20WEEK%207%20MONDAY%20).pdf</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This is the evidence of my working on power BI and learning new skills on Data camp</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a:t>
            </a:r>
            <a:r>
              <a:rPr lang="en" dirty="0"/>
              <a:t>he week was really good I worked my whole week in dashboard my only problem is that I need to make a correlation coefficient.</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 dirty="0"/>
              <a:t>As I said the dashboard I find out what I’m going to do and now I feel comfortable on it </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US" dirty="0"/>
              <a:t>S</a:t>
            </a:r>
            <a:r>
              <a:rPr lang="en" dirty="0"/>
              <a:t>ome part of dashboard like correlation coefficient and I need to work on it and try to do it </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 dirty="0"/>
              <a:t>I’m so happy that I learned how to work with PowerBI and I will learn more about this even after the dashboard to be pro on it beca</a:t>
            </a:r>
            <a:r>
              <a:rPr lang="en-US" dirty="0"/>
              <a:t>us</a:t>
            </a:r>
            <a:r>
              <a:rPr lang="en" dirty="0"/>
              <a:t>e I think it is going to be really useful.</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F</a:t>
            </a:r>
            <a:r>
              <a:rPr lang="en" dirty="0"/>
              <a:t>inishing my dashboard and make it as much as good that I can.</a:t>
            </a:r>
          </a:p>
          <a:p>
            <a:pPr marL="27940" lvl="0" indent="0" algn="l" rtl="0">
              <a:spcBef>
                <a:spcPts val="0"/>
              </a:spcBef>
              <a:spcAft>
                <a:spcPts val="0"/>
              </a:spcAft>
              <a:buSzPts val="1000"/>
              <a:buNone/>
            </a:pPr>
            <a:r>
              <a:rPr lang="en-US" dirty="0"/>
              <a:t>F</a:t>
            </a:r>
            <a:r>
              <a:rPr lang="en" dirty="0"/>
              <a:t>ind out my problem to see how can manage correlation coefficient.</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46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Student feedback</a:t>
            </a:r>
          </a:p>
          <a:p>
            <a:pPr marL="27940" lvl="0" indent="0" algn="l" rtl="0">
              <a:spcBef>
                <a:spcPts val="0"/>
              </a:spcBef>
              <a:spcAft>
                <a:spcPts val="0"/>
              </a:spcAft>
              <a:buSzPts val="1000"/>
              <a:buNone/>
            </a:pPr>
            <a:r>
              <a:rPr lang="en" b="1" dirty="0"/>
              <a:t>I got Feedback from Omar about my dashboard and </a:t>
            </a:r>
            <a:r>
              <a:rPr lang="en-US" b="1" dirty="0"/>
              <a:t>He also mentioned that I need to show correlation coefficient on my dashboard and I need to present it with more confidence. He said my data is good just I need talk more and make a relation between my data.</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 name="TextBox 1">
            <a:extLst>
              <a:ext uri="{FF2B5EF4-FFF2-40B4-BE49-F238E27FC236}">
                <a16:creationId xmlns:a16="http://schemas.microsoft.com/office/drawing/2014/main" id="{810859A9-4068-F942-37B5-F053552E2331}"/>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628294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US"/>
              <a:t>8</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a:t>
            </a:r>
            <a:r>
              <a:rPr lang="en" dirty="0"/>
              <a:t>inish my dashboard and crisp dm also working on my learning log and work log</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US" dirty="0"/>
              <a:t>F</a:t>
            </a:r>
            <a:r>
              <a:rPr lang="en" dirty="0"/>
              <a:t>inally I found out how to make a correlation coefficient on my dashboard I know it is a bit late and now I have to manage my visualization and make it again</a:t>
            </a: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hlinkClick r:id="rId3"/>
              </a:rPr>
              <a:t>https://github.com/BredaUniversityADSAI/2024-25A-FAI1-ADSAI--MohammadaliJaberi244437/blob/main/power%20bi%20(not%20ready%20yet).pbix</a:t>
            </a:r>
            <a:endParaRPr lang="en" dirty="0"/>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T</a:t>
            </a:r>
            <a:r>
              <a:rPr lang="en" dirty="0"/>
              <a:t>his is my almost final dashboard it just need some thing to change</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a:t>
            </a:r>
            <a:r>
              <a:rPr lang="en" dirty="0"/>
              <a:t>he week went very stressful and there was a lot of work and I was behind.</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 dirty="0"/>
              <a:t>My dashboard I feel good about it and I hope my mentor have same feeling because I add things that he mentioned to me</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 dirty="0"/>
              <a:t>I think everythings went well.</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US" dirty="0"/>
              <a:t>A</a:t>
            </a:r>
            <a:r>
              <a:rPr lang="en" dirty="0"/>
              <a:t>t the end of the block I’m happy th</a:t>
            </a:r>
            <a:r>
              <a:rPr lang="en-US" dirty="0"/>
              <a:t>at</a:t>
            </a:r>
            <a:r>
              <a:rPr lang="en" dirty="0"/>
              <a:t> I learn how to work with power BI and I will try to work with it more than before from now on to be proffesional on it.</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F</a:t>
            </a:r>
            <a:r>
              <a:rPr lang="en" dirty="0"/>
              <a:t>or the next block I try to go forward step by step because at the begin</a:t>
            </a:r>
            <a:r>
              <a:rPr lang="en-US" dirty="0"/>
              <a:t>n</a:t>
            </a:r>
            <a:r>
              <a:rPr lang="en" dirty="0"/>
              <a:t>ing of the block I was lost.</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8</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9604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US"/>
              <a:t>8</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Student feedback</a:t>
            </a:r>
          </a:p>
          <a:p>
            <a:pPr marL="27940" lvl="0" indent="0" algn="l" rtl="0">
              <a:spcBef>
                <a:spcPts val="0"/>
              </a:spcBef>
              <a:spcAft>
                <a:spcPts val="0"/>
              </a:spcAft>
              <a:buSzPts val="1000"/>
              <a:buNone/>
            </a:pPr>
            <a:r>
              <a:rPr lang="en" b="1" dirty="0"/>
              <a:t>I got feedback from Erfan about my powerBI and work log he should I shoud add some thing to my description in work log and correct some of my hours of study.</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8</a:t>
            </a:r>
            <a:endParaRPr/>
          </a:p>
        </p:txBody>
      </p:sp>
      <p:sp>
        <p:nvSpPr>
          <p:cNvPr id="2" name="TextBox 1">
            <a:extLst>
              <a:ext uri="{FF2B5EF4-FFF2-40B4-BE49-F238E27FC236}">
                <a16:creationId xmlns:a16="http://schemas.microsoft.com/office/drawing/2014/main" id="{A3F79454-97A0-D52B-1105-DCF3588B2909}"/>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2861106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C</a:t>
            </a:r>
            <a:endParaRPr sz="600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a:t>
            </a:r>
            <a:endParaRPr/>
          </a:p>
          <a:p>
            <a:pPr marL="0" lvl="0" indent="0" algn="ctr" rtl="0">
              <a:spcBef>
                <a:spcPts val="0"/>
              </a:spcBef>
              <a:spcAft>
                <a:spcPts val="0"/>
              </a:spcAft>
              <a:buNone/>
            </a:pPr>
            <a:r>
              <a:rPr lang="en"/>
              <a:t>Intended Learning Outcomes</a:t>
            </a:r>
            <a:endParaRPr sz="300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rPr>
              <a:t>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FBC29FFC-E02F-47EC-294D-EA007A0D6272}"/>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E40A82D0-4EBE-D66F-712C-7F10132777E1}"/>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0.1</a:t>
            </a:r>
            <a:endParaRPr dirty="0"/>
          </a:p>
        </p:txBody>
      </p:sp>
      <p:sp>
        <p:nvSpPr>
          <p:cNvPr id="364" name="Google Shape;364;p39">
            <a:extLst>
              <a:ext uri="{FF2B5EF4-FFF2-40B4-BE49-F238E27FC236}">
                <a16:creationId xmlns:a16="http://schemas.microsoft.com/office/drawing/2014/main" id="{C2512A29-A3E9-45C4-7288-BD55C82BE3DB}"/>
              </a:ext>
            </a:extLst>
          </p:cNvPr>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nl-NL" dirty="0" err="1"/>
              <a:t>Foundational</a:t>
            </a:r>
            <a:r>
              <a:rPr lang="nl-NL" dirty="0"/>
              <a:t> Skills - Python</a:t>
            </a:r>
          </a:p>
        </p:txBody>
      </p:sp>
      <p:sp>
        <p:nvSpPr>
          <p:cNvPr id="365" name="Google Shape;365;p39">
            <a:extLst>
              <a:ext uri="{FF2B5EF4-FFF2-40B4-BE49-F238E27FC236}">
                <a16:creationId xmlns:a16="http://schemas.microsoft.com/office/drawing/2014/main" id="{3041B62F-2828-5E78-7ED1-F3C5C8F702F7}"/>
              </a:ext>
            </a:extLst>
          </p:cNvPr>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GB" dirty="0"/>
              <a:t>The student masters the foundational skills and knowledge that form the basis of Data Science and Artificial Intelligence.  </a:t>
            </a:r>
            <a:endParaRPr lang="en" dirty="0"/>
          </a:p>
        </p:txBody>
      </p:sp>
      <p:sp>
        <p:nvSpPr>
          <p:cNvPr id="366" name="Google Shape;366;p39">
            <a:extLst>
              <a:ext uri="{FF2B5EF4-FFF2-40B4-BE49-F238E27FC236}">
                <a16:creationId xmlns:a16="http://schemas.microsoft.com/office/drawing/2014/main" id="{C6E53608-DB1C-747D-1DAC-03FECAE94FFA}"/>
              </a:ext>
            </a:extLst>
          </p:cNvPr>
          <p:cNvSpPr txBox="1"/>
          <p:nvPr/>
        </p:nvSpPr>
        <p:spPr>
          <a:xfrm>
            <a:off x="-106299" y="793213"/>
            <a:ext cx="3621024"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0" dirty="0">
                <a:solidFill>
                  <a:srgbClr val="999999"/>
                </a:solidFill>
                <a:latin typeface="Roboto"/>
                <a:ea typeface="Roboto"/>
                <a:cs typeface="Roboto"/>
                <a:sym typeface="Roboto"/>
              </a:rPr>
              <a:t>0.1</a:t>
            </a:r>
            <a:endParaRPr sz="2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1376785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E63A8C97-E95D-54EA-B8A4-99042E9BC205}"/>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111EFD98-8E6D-359F-8AEE-AE6FFF99FA6C}"/>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0</a:t>
            </a:r>
            <a:endParaRPr dirty="0"/>
          </a:p>
        </p:txBody>
      </p:sp>
      <p:sp>
        <p:nvSpPr>
          <p:cNvPr id="394" name="Google Shape;394;p42">
            <a:extLst>
              <a:ext uri="{FF2B5EF4-FFF2-40B4-BE49-F238E27FC236}">
                <a16:creationId xmlns:a16="http://schemas.microsoft.com/office/drawing/2014/main" id="{431D8DB7-AB2B-1729-09D6-7A3F5C4EB07F}"/>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406007F9-0138-E41E-B977-E73C2663F6DB}"/>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0F578301-4EF6-EF97-0A60-3995A25EBBE3}"/>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GB" dirty="0"/>
              <a:t>The student masters the foundational skills and knowledge that form the basis of Data Science and Artificial Intelligence.  </a:t>
            </a:r>
          </a:p>
        </p:txBody>
      </p:sp>
      <p:sp>
        <p:nvSpPr>
          <p:cNvPr id="397" name="Google Shape;397;p42">
            <a:extLst>
              <a:ext uri="{FF2B5EF4-FFF2-40B4-BE49-F238E27FC236}">
                <a16:creationId xmlns:a16="http://schemas.microsoft.com/office/drawing/2014/main" id="{402A3C02-FEB8-7584-ABAA-EA8F489C3171}"/>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0.1</a:t>
            </a:r>
            <a:endParaRPr dirty="0"/>
          </a:p>
        </p:txBody>
      </p:sp>
      <p:sp>
        <p:nvSpPr>
          <p:cNvPr id="398" name="Google Shape;398;p42">
            <a:extLst>
              <a:ext uri="{FF2B5EF4-FFF2-40B4-BE49-F238E27FC236}">
                <a16:creationId xmlns:a16="http://schemas.microsoft.com/office/drawing/2014/main" id="{E8891FCB-0294-E750-8DAC-85B5664EEA03}"/>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Python. The student is able to write Python programs, to solve a wide range of introductory programming challenges and perform basic data analysis, using fundamental programming concepts.</a:t>
            </a:r>
            <a:endParaRPr lang="en-US" i="0" dirty="0"/>
          </a:p>
        </p:txBody>
      </p:sp>
      <p:sp>
        <p:nvSpPr>
          <p:cNvPr id="399" name="Google Shape;399;p42">
            <a:extLst>
              <a:ext uri="{FF2B5EF4-FFF2-40B4-BE49-F238E27FC236}">
                <a16:creationId xmlns:a16="http://schemas.microsoft.com/office/drawing/2014/main" id="{E7205601-D9AB-87C4-07B5-EC2DCE2FCC4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Foundational Skills</a:t>
            </a:r>
            <a:endParaRPr sz="900" dirty="0"/>
          </a:p>
        </p:txBody>
      </p:sp>
      <p:graphicFrame>
        <p:nvGraphicFramePr>
          <p:cNvPr id="4" name="Table 3">
            <a:extLst>
              <a:ext uri="{FF2B5EF4-FFF2-40B4-BE49-F238E27FC236}">
                <a16:creationId xmlns:a16="http://schemas.microsoft.com/office/drawing/2014/main" id="{D0F76162-544E-8312-73FC-48F1E6316FD1}"/>
              </a:ext>
            </a:extLst>
          </p:cNvPr>
          <p:cNvGraphicFramePr>
            <a:graphicFrameLocks noGrp="1"/>
          </p:cNvGraphicFramePr>
          <p:nvPr>
            <p:extLst>
              <p:ext uri="{D42A27DB-BD31-4B8C-83A1-F6EECF244321}">
                <p14:modId xmlns:p14="http://schemas.microsoft.com/office/powerpoint/2010/main" val="3390927862"/>
              </p:ext>
            </p:extLst>
          </p:nvPr>
        </p:nvGraphicFramePr>
        <p:xfrm>
          <a:off x="0" y="1102130"/>
          <a:ext cx="9144000" cy="3659664"/>
        </p:xfrm>
        <a:graphic>
          <a:graphicData uri="http://schemas.openxmlformats.org/drawingml/2006/table">
            <a:tbl>
              <a:tblPr/>
              <a:tblGrid>
                <a:gridCol w="1703956">
                  <a:extLst>
                    <a:ext uri="{9D8B030D-6E8A-4147-A177-3AD203B41FA5}">
                      <a16:colId xmlns:a16="http://schemas.microsoft.com/office/drawing/2014/main" val="4239193143"/>
                    </a:ext>
                  </a:extLst>
                </a:gridCol>
                <a:gridCol w="7440044">
                  <a:extLst>
                    <a:ext uri="{9D8B030D-6E8A-4147-A177-3AD203B41FA5}">
                      <a16:colId xmlns:a16="http://schemas.microsoft.com/office/drawing/2014/main" val="809835915"/>
                    </a:ext>
                  </a:extLst>
                </a:gridCol>
              </a:tblGrid>
              <a:tr h="139700">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 (Points: 20)</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279581867"/>
                  </a:ext>
                </a:extLst>
              </a:tr>
              <a:tr h="99012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The student was present at the Python exam or the planned retake and obtained the evidenced grade.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ctr"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a solid understanding of Python fundamentals, including variables, conditionals, functions, loops, and data structures such as strings, lists, dictionaries, and tuples. The student is proficient in writing functions that use a wide range of conditional executions and can effectively utilize strings and lists to solve diverse problems. Additionally, the student can convert simple algorithms provided in English into Python, create and execute algorithms to solve various problems and combine loops with strings and lists in their solutions, showcasing strong algorithmic thinking.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73337937"/>
                  </a:ext>
                </a:extLst>
              </a:tr>
              <a:tr h="279400">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Well, I attended most of the data lab class and the two session that I absent it was because of illness which I filled the form and also informed my mentor about it.</a:t>
                      </a:r>
                    </a:p>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attend to the Python exams and also for the Oral exam.</a:t>
                      </a:r>
                      <a:b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b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filled my worklog and learning log and I also put the evidence link for this but I do not have any evidence for Python exams.</a:t>
                      </a:r>
                      <a:endParaRPr lang="en-NL" sz="700" dirty="0">
                        <a:latin typeface="Roboto" panose="02000000000000000000" pitchFamily="2" charset="0"/>
                        <a:ea typeface="Roboto" panose="02000000000000000000" pitchFamily="2" charset="0"/>
                        <a:cs typeface="Roboto" panose="02000000000000000000" pitchFamily="2" charset="0"/>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think I’m qualify for a given ILO criteria because I did all the python notebooks and also I did many python question in hacker and coding bat and there my evidence link for it</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933039061"/>
                  </a:ext>
                </a:extLst>
              </a:tr>
              <a:tr h="148534">
                <a:tc>
                  <a:txBody>
                    <a:bodyPr/>
                    <a:lstStyle/>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3"/>
                        </a:rPr>
                        <a:t>https://github.com/BredaUniversityADSAI/2024-25A-FAI1-ADSAI--MohammadaliJaberi244437/blob/main/work%20log%20evidence.png</a:t>
                      </a: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a:t>
                      </a:r>
                    </a:p>
                    <a:p>
                      <a:pPr lvl="0">
                        <a:buNone/>
                      </a:pP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4"/>
                        </a:rPr>
                        <a:t>https://github.com/BredaUniversityADSAI/2024-25A-FAI1-ADSAI--MohammadaliJaberi244437/blob/main/7.%20Dictionaries(anjam%20shode).ipynb</a:t>
                      </a: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 </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5"/>
                        </a:rPr>
                        <a:t>https://github.com/BredaUniversityADSAI/2024-25A-FAI1-ADSAI--MohammadaliJaberi244437/blob/main/6.%20Lists(anjam%20shode).ipynb</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6"/>
                        </a:rPr>
                        <a:t>https://github.com/BredaUniversityADSAI/2024-25A-FAI1-ADSAI--MohammadaliJaberi244437/blob/main/week%203%20evidence%20coding%20bat.png</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555023960"/>
                  </a:ext>
                </a:extLst>
              </a:tr>
            </a:tbl>
          </a:graphicData>
        </a:graphic>
      </p:graphicFrame>
    </p:spTree>
    <p:extLst>
      <p:ext uri="{BB962C8B-B14F-4D97-AF65-F5344CB8AC3E}">
        <p14:creationId xmlns:p14="http://schemas.microsoft.com/office/powerpoint/2010/main" val="4245262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C57C81CE-5EC2-DA8D-1717-F625803F5C6E}"/>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B9F370B9-EB14-C6C1-E7D2-1DF97E97333A}"/>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0.2</a:t>
            </a:r>
            <a:endParaRPr dirty="0"/>
          </a:p>
        </p:txBody>
      </p:sp>
      <p:sp>
        <p:nvSpPr>
          <p:cNvPr id="364" name="Google Shape;364;p39">
            <a:extLst>
              <a:ext uri="{FF2B5EF4-FFF2-40B4-BE49-F238E27FC236}">
                <a16:creationId xmlns:a16="http://schemas.microsoft.com/office/drawing/2014/main" id="{FE0F58E3-0188-6AB3-D8D7-C2038336D3B0}"/>
              </a:ext>
            </a:extLst>
          </p:cNvPr>
          <p:cNvSpPr txBox="1">
            <a:spLocks noGrp="1"/>
          </p:cNvSpPr>
          <p:nvPr>
            <p:ph type="subTitle" idx="1"/>
          </p:nvPr>
        </p:nvSpPr>
        <p:spPr>
          <a:xfrm>
            <a:off x="3083243" y="2514514"/>
            <a:ext cx="6400800" cy="685800"/>
          </a:xfrm>
          <a:prstGeom prst="rect">
            <a:avLst/>
          </a:prstGeom>
        </p:spPr>
        <p:txBody>
          <a:bodyPr spcFirstLastPara="1" wrap="square" lIns="91425" tIns="91425" rIns="91425" bIns="91425" anchor="ctr" anchorCtr="0">
            <a:noAutofit/>
          </a:bodyPr>
          <a:lstStyle/>
          <a:p>
            <a:pPr marL="0" indent="0"/>
            <a:r>
              <a:rPr lang="nl-NL" dirty="0" err="1"/>
              <a:t>Foundational</a:t>
            </a:r>
            <a:r>
              <a:rPr lang="nl-NL" dirty="0"/>
              <a:t> Skills - </a:t>
            </a:r>
            <a:r>
              <a:rPr lang="nl-NL" dirty="0" err="1"/>
              <a:t>Mathematics</a:t>
            </a:r>
            <a:endParaRPr lang="nl-NL" dirty="0"/>
          </a:p>
        </p:txBody>
      </p:sp>
      <p:sp>
        <p:nvSpPr>
          <p:cNvPr id="365" name="Google Shape;365;p39">
            <a:extLst>
              <a:ext uri="{FF2B5EF4-FFF2-40B4-BE49-F238E27FC236}">
                <a16:creationId xmlns:a16="http://schemas.microsoft.com/office/drawing/2014/main" id="{BE0159C6-DB27-54CA-6862-264BAC82D55D}"/>
              </a:ext>
            </a:extLst>
          </p:cNvPr>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GB" dirty="0"/>
              <a:t>The student masters the foundational skills and knowledge that form the basis of Data Science and Artificial Intelligence.  </a:t>
            </a:r>
            <a:endParaRPr lang="en" dirty="0"/>
          </a:p>
        </p:txBody>
      </p:sp>
      <p:sp>
        <p:nvSpPr>
          <p:cNvPr id="366" name="Google Shape;366;p39">
            <a:extLst>
              <a:ext uri="{FF2B5EF4-FFF2-40B4-BE49-F238E27FC236}">
                <a16:creationId xmlns:a16="http://schemas.microsoft.com/office/drawing/2014/main" id="{CBD64B0B-2DA8-3660-48FB-BB45D4DBFCA4}"/>
              </a:ext>
            </a:extLst>
          </p:cNvPr>
          <p:cNvSpPr txBox="1"/>
          <p:nvPr/>
        </p:nvSpPr>
        <p:spPr>
          <a:xfrm>
            <a:off x="-106299" y="793213"/>
            <a:ext cx="3621024"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0" dirty="0">
                <a:solidFill>
                  <a:srgbClr val="999999"/>
                </a:solidFill>
                <a:latin typeface="Roboto"/>
                <a:ea typeface="Roboto"/>
                <a:cs typeface="Roboto"/>
                <a:sym typeface="Roboto"/>
              </a:rPr>
              <a:t>0.2</a:t>
            </a:r>
            <a:endParaRPr sz="2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515728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612ED845-C6F6-9036-ACDD-0617975C8963}"/>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14E02293-B601-AEDA-3DDC-9DF610C6D29F}"/>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0</a:t>
            </a:r>
            <a:endParaRPr dirty="0"/>
          </a:p>
        </p:txBody>
      </p:sp>
      <p:sp>
        <p:nvSpPr>
          <p:cNvPr id="394" name="Google Shape;394;p42">
            <a:extLst>
              <a:ext uri="{FF2B5EF4-FFF2-40B4-BE49-F238E27FC236}">
                <a16:creationId xmlns:a16="http://schemas.microsoft.com/office/drawing/2014/main" id="{AD1301A5-FFD9-E320-1B17-6556A9150D92}"/>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85D8D7D4-D306-ADCD-DF4F-35832C6BF0F3}"/>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CE2EDEFD-76EB-E649-9B77-EF0A43410F37}"/>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GB" dirty="0"/>
              <a:t>The student masters the foundational skills and knowledge that form the basis of Data Science and Artificial Intelligence.  </a:t>
            </a:r>
          </a:p>
        </p:txBody>
      </p:sp>
      <p:sp>
        <p:nvSpPr>
          <p:cNvPr id="397" name="Google Shape;397;p42">
            <a:extLst>
              <a:ext uri="{FF2B5EF4-FFF2-40B4-BE49-F238E27FC236}">
                <a16:creationId xmlns:a16="http://schemas.microsoft.com/office/drawing/2014/main" id="{1FCE02C2-2EB4-1EB4-566A-700175D7EC8A}"/>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0.2</a:t>
            </a:r>
            <a:endParaRPr dirty="0"/>
          </a:p>
        </p:txBody>
      </p:sp>
      <p:sp>
        <p:nvSpPr>
          <p:cNvPr id="398" name="Google Shape;398;p42">
            <a:extLst>
              <a:ext uri="{FF2B5EF4-FFF2-40B4-BE49-F238E27FC236}">
                <a16:creationId xmlns:a16="http://schemas.microsoft.com/office/drawing/2014/main" id="{301F8C0A-6FDE-BC5F-9E32-E0FF9248B214}"/>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Mathematics. The student is able to perform elementary operations on matrices and understand the concepts of derivatives, gradients, optimization algorithms, and can implement a simple machine learning model from scratch. </a:t>
            </a:r>
            <a:endParaRPr lang="en-US" i="0" dirty="0"/>
          </a:p>
        </p:txBody>
      </p:sp>
      <p:sp>
        <p:nvSpPr>
          <p:cNvPr id="399" name="Google Shape;399;p42">
            <a:extLst>
              <a:ext uri="{FF2B5EF4-FFF2-40B4-BE49-F238E27FC236}">
                <a16:creationId xmlns:a16="http://schemas.microsoft.com/office/drawing/2014/main" id="{81794021-2B1F-AF94-F7C9-FBC8FE3F304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Foundational Skills</a:t>
            </a:r>
            <a:endParaRPr sz="900" dirty="0"/>
          </a:p>
        </p:txBody>
      </p:sp>
      <p:graphicFrame>
        <p:nvGraphicFramePr>
          <p:cNvPr id="4" name="Table 3">
            <a:extLst>
              <a:ext uri="{FF2B5EF4-FFF2-40B4-BE49-F238E27FC236}">
                <a16:creationId xmlns:a16="http://schemas.microsoft.com/office/drawing/2014/main" id="{7883FDB9-865F-3BCA-30D0-628E24079D73}"/>
              </a:ext>
            </a:extLst>
          </p:cNvPr>
          <p:cNvGraphicFramePr>
            <a:graphicFrameLocks noGrp="1"/>
          </p:cNvGraphicFramePr>
          <p:nvPr>
            <p:extLst>
              <p:ext uri="{D42A27DB-BD31-4B8C-83A1-F6EECF244321}">
                <p14:modId xmlns:p14="http://schemas.microsoft.com/office/powerpoint/2010/main" val="1767231149"/>
              </p:ext>
            </p:extLst>
          </p:nvPr>
        </p:nvGraphicFramePr>
        <p:xfrm>
          <a:off x="0" y="1102130"/>
          <a:ext cx="9144000" cy="3244318"/>
        </p:xfrm>
        <a:graphic>
          <a:graphicData uri="http://schemas.openxmlformats.org/drawingml/2006/table">
            <a:tbl>
              <a:tblPr/>
              <a:tblGrid>
                <a:gridCol w="1703956">
                  <a:extLst>
                    <a:ext uri="{9D8B030D-6E8A-4147-A177-3AD203B41FA5}">
                      <a16:colId xmlns:a16="http://schemas.microsoft.com/office/drawing/2014/main" val="4239193143"/>
                    </a:ext>
                  </a:extLst>
                </a:gridCol>
                <a:gridCol w="7440044">
                  <a:extLst>
                    <a:ext uri="{9D8B030D-6E8A-4147-A177-3AD203B41FA5}">
                      <a16:colId xmlns:a16="http://schemas.microsoft.com/office/drawing/2014/main" val="809835915"/>
                    </a:ext>
                  </a:extLst>
                </a:gridCol>
              </a:tblGrid>
              <a:tr h="139700">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 (Points: 20)</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279581867"/>
                  </a:ext>
                </a:extLst>
              </a:tr>
              <a:tr h="1001498">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The student was present at the Math exam or the planned retake and obtained the evidenced grade.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ctr"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perform calculations using basic arithmetic operators, work with variables, solve linear equations and inequalities both analytically and graphically, and analyze power, exponential, logarithmic, and trigonometric functions, as well as their inverses. The student can interpret derivative functions, determine the derivative of common mathematical functions, find the minimum and maximum on a graph, and describe changes using differences, slopes, and rates of change. The student is able to use trigonometric ratios and the unit circle, and understands how to use sine, cosine, and tangent to solve real-world problems. Additionally, the student can summarize data in various ways, find common measures of center like mean and median, and measure spread or variability using standard deviation and interquartile range.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73337937"/>
                  </a:ext>
                </a:extLst>
              </a:tr>
              <a:tr h="279400">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believe I am qualify for a given ILO criteria because I passed the math exams and also I did all the math quizzes every week and also I practice math on khan academy and here is my evidence about what I did.</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believe I qualify for a given ILO criteria because I attend to math quiz and I was able to pass the math exam also I did many practice in khan academy which I make the evidence for it.</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933039061"/>
                  </a:ext>
                </a:extLst>
              </a:tr>
              <a:tr h="279400">
                <a:tc>
                  <a:txBody>
                    <a:bodyPr/>
                    <a:lstStyle/>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3"/>
                        </a:rPr>
                        <a:t>https://github.com/BredaUniversityADSAI/2024-25A-FAI1-ADSAI--MohammadaliJaberi244437/blob/main/week%205%20Friday%20khan%20academy.png</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4"/>
                        </a:rPr>
                        <a:t>https://github.com/BredaUniversityADSAI/2024-25A-FAI1-ADSAI--MohammadaliJaberi244437/blob/main/Monday%20quiz%20math%20week%204.png</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5"/>
                        </a:rPr>
                        <a:t>https://github.com/BredaUniversityADSAI/2024-25A-FAI1-ADSAI--MohammadaliJaberi244437/blob/main/Math%20quiz%20week%203.png</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6"/>
                        </a:rPr>
                        <a:t>https://github.com/BredaUniversityADSAI/2024-25A-FAI1-ADSAI--MohammadaliJaberi244437/blob/main/Tuesday%20khan%20academy.png</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555023960"/>
                  </a:ext>
                </a:extLst>
              </a:tr>
            </a:tbl>
          </a:graphicData>
        </a:graphic>
      </p:graphicFrame>
    </p:spTree>
    <p:extLst>
      <p:ext uri="{BB962C8B-B14F-4D97-AF65-F5344CB8AC3E}">
        <p14:creationId xmlns:p14="http://schemas.microsoft.com/office/powerpoint/2010/main" val="4242006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1</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nl-NL"/>
              <a:t>Professional </a:t>
            </a:r>
            <a:r>
              <a:rPr lang="nl-NL" err="1"/>
              <a:t>Practice</a:t>
            </a:r>
          </a:p>
        </p:txBody>
      </p:sp>
      <p:sp>
        <p:nvSpPr>
          <p:cNvPr id="365" name="Google Shape;365;p39"/>
          <p:cNvSpPr txBox="1">
            <a:spLocks noGrp="1"/>
          </p:cNvSpPr>
          <p:nvPr>
            <p:ph type="subTitle" idx="2"/>
          </p:nvPr>
        </p:nvSpPr>
        <p:spPr>
          <a:xfrm>
            <a:off x="3200400" y="3087445"/>
            <a:ext cx="5486400" cy="1294816"/>
          </a:xfrm>
          <a:prstGeom prst="rect">
            <a:avLst/>
          </a:prstGeom>
        </p:spPr>
        <p:txBody>
          <a:bodyPr spcFirstLastPara="1" wrap="square" lIns="91425" tIns="91425" rIns="91425" bIns="91425" anchor="ctr" anchorCtr="0">
            <a:noAutofit/>
          </a:bodyPr>
          <a:lstStyle/>
          <a:p>
            <a:r>
              <a:rPr lang="en-GB" dirty="0"/>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p>
          <a:p>
            <a:endParaRPr lang="en-GB"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1</a:t>
            </a:r>
            <a:endParaRPr sz="40000">
              <a:solidFill>
                <a:srgbClr val="999999"/>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1</a:t>
            </a:r>
            <a:endParaRPr dirty="0"/>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63446" y="156393"/>
            <a:ext cx="6588929" cy="5760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GB" dirty="0"/>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br>
              <a:rPr lang="en-GB" dirty="0"/>
            </a:br>
            <a:br>
              <a:rPr lang="en-GB" dirty="0"/>
            </a:br>
            <a:endParaRPr lang="en-GB" dirty="0"/>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1</a:t>
            </a:r>
            <a:r>
              <a:rPr lang="en" dirty="0"/>
              <a:t>.</a:t>
            </a:r>
            <a:r>
              <a:rPr lang="en-US" dirty="0"/>
              <a:t>1</a:t>
            </a:r>
            <a:endParaRPr dirty="0"/>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The student adheres to professional standards, and submits work, adhering to defined guidelines and processes in the Creative Brief.</a:t>
            </a:r>
            <a:endParaRPr lang="en-US" i="0" dirty="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Professional Practice</a:t>
            </a:r>
            <a:endParaRPr sz="900" dirty="0"/>
          </a:p>
        </p:txBody>
      </p:sp>
      <p:graphicFrame>
        <p:nvGraphicFramePr>
          <p:cNvPr id="4" name="Table 3">
            <a:extLst>
              <a:ext uri="{FF2B5EF4-FFF2-40B4-BE49-F238E27FC236}">
                <a16:creationId xmlns:a16="http://schemas.microsoft.com/office/drawing/2014/main" id="{E43769FC-7EA1-C9ED-07CA-9C5724B9CD95}"/>
              </a:ext>
            </a:extLst>
          </p:cNvPr>
          <p:cNvGraphicFramePr>
            <a:graphicFrameLocks noGrp="1"/>
          </p:cNvGraphicFramePr>
          <p:nvPr>
            <p:extLst>
              <p:ext uri="{D42A27DB-BD31-4B8C-83A1-F6EECF244321}">
                <p14:modId xmlns:p14="http://schemas.microsoft.com/office/powerpoint/2010/main" val="1007860109"/>
              </p:ext>
            </p:extLst>
          </p:nvPr>
        </p:nvGraphicFramePr>
        <p:xfrm>
          <a:off x="0" y="1063425"/>
          <a:ext cx="9144000" cy="3144997"/>
        </p:xfrm>
        <a:graphic>
          <a:graphicData uri="http://schemas.openxmlformats.org/drawingml/2006/table">
            <a:tbl>
              <a:tblPr/>
              <a:tblGrid>
                <a:gridCol w="1702909">
                  <a:extLst>
                    <a:ext uri="{9D8B030D-6E8A-4147-A177-3AD203B41FA5}">
                      <a16:colId xmlns:a16="http://schemas.microsoft.com/office/drawing/2014/main" val="1563489774"/>
                    </a:ext>
                  </a:extLst>
                </a:gridCol>
                <a:gridCol w="2652715">
                  <a:extLst>
                    <a:ext uri="{9D8B030D-6E8A-4147-A177-3AD203B41FA5}">
                      <a16:colId xmlns:a16="http://schemas.microsoft.com/office/drawing/2014/main" val="604979593"/>
                    </a:ext>
                  </a:extLst>
                </a:gridCol>
                <a:gridCol w="1491216">
                  <a:extLst>
                    <a:ext uri="{9D8B030D-6E8A-4147-A177-3AD203B41FA5}">
                      <a16:colId xmlns:a16="http://schemas.microsoft.com/office/drawing/2014/main" val="2456996155"/>
                    </a:ext>
                  </a:extLst>
                </a:gridCol>
                <a:gridCol w="1648580">
                  <a:extLst>
                    <a:ext uri="{9D8B030D-6E8A-4147-A177-3AD203B41FA5}">
                      <a16:colId xmlns:a16="http://schemas.microsoft.com/office/drawing/2014/main" val="1908524195"/>
                    </a:ext>
                  </a:extLst>
                </a:gridCol>
                <a:gridCol w="1648580">
                  <a:extLst>
                    <a:ext uri="{9D8B030D-6E8A-4147-A177-3AD203B41FA5}">
                      <a16:colId xmlns:a16="http://schemas.microsoft.com/office/drawing/2014/main" val="1548998117"/>
                    </a:ext>
                  </a:extLst>
                </a:gridCol>
              </a:tblGrid>
              <a:tr h="174625">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 (Points: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B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C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D (Points: 2)</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129039445"/>
                  </a:ext>
                </a:extLst>
              </a:tr>
              <a:tr h="99012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ctr"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completed tasks are outlined in the learning log, with detailed comments provided where necessary.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ctr"/>
                      <a:r>
                        <a:rPr lang="en-US" sz="7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The student fills out the learning log for each of the weeks.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ctr"/>
                      <a:r>
                        <a:rPr lang="en-US" sz="7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All references to important resources used are included in the learning log for the listed tasks.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student's writing style in learning log is professional and free of spelling and grammar mistakes. The student comprehends what was completed and why individual and project feedback was given.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256007393"/>
                  </a:ext>
                </a:extLst>
              </a:tr>
              <a:tr h="990124">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believe I am qualify for a given ILO criteria. Because I filled section B of learning log every week and I also mentions an evidence.</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am qualify for given ILO criteria because I fill every week of learning log with feedback and mention my evidence from my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github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lvl="0" indent="0" algn="l">
                        <a:lnSpc>
                          <a:spcPct val="100000"/>
                        </a:lnSpc>
                        <a:buNone/>
                      </a:pP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filled my learning log weekly and I make the evidence for my learning log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lvl="0" indent="0" algn="l">
                        <a:lnSpc>
                          <a:spcPct val="100000"/>
                        </a:lnSpc>
                        <a:buNone/>
                      </a:pP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Yes I make the evidence link for each week and write my listed task that what I did and what should I do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Yes I think I qualify for given this criteria because I get feedback every week from my friend at least to check my work with them and  try to not be beyond of them I also write the name of my friend that I got feedback from them</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1769954004"/>
                  </a:ext>
                </a:extLst>
              </a:tr>
              <a:tr h="990124">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 Section B</a:t>
                      </a: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Section B</a:t>
                      </a:r>
                    </a:p>
                    <a:p>
                      <a:pPr algn="ctr"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E1C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Section B</a:t>
                      </a: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Section B</a:t>
                      </a: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b="0" i="0" u="none" strike="noStrike" dirty="0">
                          <a:solidFill>
                            <a:schemeClr val="tx2">
                              <a:lumMod val="10000"/>
                            </a:schemeClr>
                          </a:solidFill>
                          <a:effectLst/>
                          <a:latin typeface="Roboto" panose="02000000000000000000" pitchFamily="2" charset="0"/>
                          <a:ea typeface="Roboto" panose="02000000000000000000" pitchFamily="2" charset="0"/>
                          <a:cs typeface="Roboto" panose="02000000000000000000" pitchFamily="2" charset="0"/>
                        </a:rPr>
                        <a:t> Section B</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3438072080"/>
                  </a:ext>
                </a:extLst>
              </a:tr>
            </a:tbl>
          </a:graphicData>
        </a:graphic>
      </p:graphicFrame>
    </p:spTree>
    <p:extLst>
      <p:ext uri="{BB962C8B-B14F-4D97-AF65-F5344CB8AC3E}">
        <p14:creationId xmlns:p14="http://schemas.microsoft.com/office/powerpoint/2010/main" val="3132603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4"/>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2</a:t>
            </a:r>
            <a:endParaRPr sz="40000">
              <a:solidFill>
                <a:srgbClr val="999999"/>
              </a:solidFill>
              <a:latin typeface="Roboto"/>
              <a:ea typeface="Roboto"/>
              <a:cs typeface="Roboto"/>
              <a:sym typeface="Roboto"/>
            </a:endParaRPr>
          </a:p>
        </p:txBody>
      </p:sp>
      <p:sp>
        <p:nvSpPr>
          <p:cNvPr id="416" name="Google Shape;416;p4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2</a:t>
            </a:r>
            <a:endParaRPr/>
          </a:p>
        </p:txBody>
      </p:sp>
      <p:sp>
        <p:nvSpPr>
          <p:cNvPr id="417" name="Google Shape;417;p4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Personal Development &amp; Academic Practice</a:t>
            </a:r>
            <a:endParaRPr dirty="0"/>
          </a:p>
        </p:txBody>
      </p:sp>
      <p:sp>
        <p:nvSpPr>
          <p:cNvPr id="418" name="Google Shape;418;p4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endParaRPr lang="en-GB" dirty="0"/>
          </a:p>
          <a:p>
            <a:r>
              <a:rPr lang="en-GB" dirty="0"/>
              <a:t> 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2</a:t>
            </a:r>
            <a:endParaRPr dirty="0"/>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312893" y="10758"/>
            <a:ext cx="6164133" cy="576000"/>
          </a:xfrm>
          <a:prstGeom prst="rect">
            <a:avLst/>
          </a:prstGeom>
        </p:spPr>
        <p:txBody>
          <a:bodyPr spcFirstLastPara="1" wrap="square" lIns="91425" tIns="91425" rIns="91425" bIns="91425" anchor="ctr" anchorCtr="0">
            <a:noAutofit/>
          </a:bodyPr>
          <a:lstStyle/>
          <a:p>
            <a:br>
              <a:rPr lang="en-GB" dirty="0"/>
            </a:br>
            <a:r>
              <a:rPr lang="en-GB" dirty="0"/>
              <a:t> 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br>
              <a:rPr lang="en-GB" dirty="0"/>
            </a:br>
            <a:endParaRPr lang="en-GB" dirty="0"/>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2</a:t>
            </a:r>
            <a:r>
              <a:rPr lang="en" dirty="0"/>
              <a:t>.</a:t>
            </a:r>
            <a:r>
              <a:rPr lang="en-US" dirty="0"/>
              <a:t>1</a:t>
            </a:r>
            <a:endParaRPr dirty="0"/>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The student reports on learning progress and updates plans in a well-written, concise format with appropriate visual communication, guided by active engagement with feedback. </a:t>
            </a:r>
            <a:endParaRPr lang="en-US" i="0" dirty="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Personal Development &amp; Academic Practice</a:t>
            </a:r>
            <a:endParaRPr sz="900" dirty="0"/>
          </a:p>
        </p:txBody>
      </p:sp>
      <p:graphicFrame>
        <p:nvGraphicFramePr>
          <p:cNvPr id="4" name="Table 3">
            <a:extLst>
              <a:ext uri="{FF2B5EF4-FFF2-40B4-BE49-F238E27FC236}">
                <a16:creationId xmlns:a16="http://schemas.microsoft.com/office/drawing/2014/main" id="{7A01F0FE-2D8B-B9BC-9747-96D60CCF6EBF}"/>
              </a:ext>
            </a:extLst>
          </p:cNvPr>
          <p:cNvGraphicFramePr>
            <a:graphicFrameLocks noGrp="1"/>
          </p:cNvGraphicFramePr>
          <p:nvPr>
            <p:extLst>
              <p:ext uri="{D42A27DB-BD31-4B8C-83A1-F6EECF244321}">
                <p14:modId xmlns:p14="http://schemas.microsoft.com/office/powerpoint/2010/main" val="785815457"/>
              </p:ext>
            </p:extLst>
          </p:nvPr>
        </p:nvGraphicFramePr>
        <p:xfrm>
          <a:off x="0" y="1069801"/>
          <a:ext cx="9144000" cy="4073700"/>
        </p:xfrm>
        <a:graphic>
          <a:graphicData uri="http://schemas.openxmlformats.org/drawingml/2006/table">
            <a:tbl>
              <a:tblPr/>
              <a:tblGrid>
                <a:gridCol w="1702560">
                  <a:extLst>
                    <a:ext uri="{9D8B030D-6E8A-4147-A177-3AD203B41FA5}">
                      <a16:colId xmlns:a16="http://schemas.microsoft.com/office/drawing/2014/main" val="1946826867"/>
                    </a:ext>
                  </a:extLst>
                </a:gridCol>
                <a:gridCol w="1320467">
                  <a:extLst>
                    <a:ext uri="{9D8B030D-6E8A-4147-A177-3AD203B41FA5}">
                      <a16:colId xmlns:a16="http://schemas.microsoft.com/office/drawing/2014/main" val="2722072811"/>
                    </a:ext>
                  </a:extLst>
                </a:gridCol>
                <a:gridCol w="1333578">
                  <a:extLst>
                    <a:ext uri="{9D8B030D-6E8A-4147-A177-3AD203B41FA5}">
                      <a16:colId xmlns:a16="http://schemas.microsoft.com/office/drawing/2014/main" val="3290534058"/>
                    </a:ext>
                  </a:extLst>
                </a:gridCol>
                <a:gridCol w="1490911">
                  <a:extLst>
                    <a:ext uri="{9D8B030D-6E8A-4147-A177-3AD203B41FA5}">
                      <a16:colId xmlns:a16="http://schemas.microsoft.com/office/drawing/2014/main" val="749269228"/>
                    </a:ext>
                  </a:extLst>
                </a:gridCol>
                <a:gridCol w="1648242">
                  <a:extLst>
                    <a:ext uri="{9D8B030D-6E8A-4147-A177-3AD203B41FA5}">
                      <a16:colId xmlns:a16="http://schemas.microsoft.com/office/drawing/2014/main" val="3119643303"/>
                    </a:ext>
                  </a:extLst>
                </a:gridCol>
                <a:gridCol w="1648242">
                  <a:extLst>
                    <a:ext uri="{9D8B030D-6E8A-4147-A177-3AD203B41FA5}">
                      <a16:colId xmlns:a16="http://schemas.microsoft.com/office/drawing/2014/main" val="46269273"/>
                    </a:ext>
                  </a:extLst>
                </a:gridCol>
              </a:tblGrid>
              <a:tr h="136249">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B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C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D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E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85108605"/>
                  </a:ext>
                </a:extLst>
              </a:tr>
              <a:tr h="90946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l" fontAlgn="ctr"/>
                      <a:r>
                        <a:rPr lang="en-US" sz="7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Weekly reflections have been completed in Section B of the learning log.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reflection for the project and block (Section D of the learning log) has been completed.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reflections have been written professionally and make sense given the context.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The reflections are critical wherever necessary and identify key lessons.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There are clear steps identified from the key lessons that make sense. There are steps applicable to future projects and your professional development.</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90927699"/>
                  </a:ext>
                </a:extLst>
              </a:tr>
              <a:tr h="2118523">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Well, I attend all the data lab classes and I was do what I have to do based on data lab context.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GB"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write  weekly reflections for my learning log and explained what I did during the week and what was hard and easy for me qualify for a given ILO criteria.</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completed section D of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learrnign</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log and I write about my next plan for the next block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can say I try my best to write reflection and fill it weekly and I think I qualify to get this point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learned a lot of key lessons in during the block A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During the block A based on data lab and data lab session I learned many key lessons.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48184317"/>
                  </a:ext>
                </a:extLst>
              </a:tr>
              <a:tr h="909464">
                <a:tc>
                  <a:txBody>
                    <a:bodyPr/>
                    <a:lstStyle/>
                    <a:p>
                      <a:pPr algn="l" fontAlgn="ct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My attendance to the data lab session </a:t>
                      </a:r>
                    </a:p>
                    <a:p>
                      <a:pPr algn="l" fontAlgn="ctr"/>
                      <a:r>
                        <a:rPr lang="en-US" sz="700" b="0" i="0" u="none" strike="noStrike" dirty="0">
                          <a:solidFill>
                            <a:schemeClr val="tx2">
                              <a:lumMod val="10000"/>
                            </a:schemeClr>
                          </a:solidFill>
                          <a:effectLst/>
                          <a:latin typeface="Roboto" panose="02000000000000000000" pitchFamily="2" charset="0"/>
                          <a:ea typeface="Roboto" panose="02000000000000000000" pitchFamily="2" charset="0"/>
                          <a:cs typeface="Roboto" panose="02000000000000000000" pitchFamily="2" charset="0"/>
                        </a:rPr>
                        <a:t>Section B of learning log.</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Section 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Section 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 Section B </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Section D</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b="0" i="0" u="none" strike="noStrike" dirty="0">
                          <a:solidFill>
                            <a:schemeClr val="tx2">
                              <a:lumMod val="10000"/>
                            </a:schemeClr>
                          </a:solidFill>
                          <a:effectLst/>
                          <a:latin typeface="Roboto" panose="02000000000000000000" pitchFamily="2" charset="0"/>
                          <a:ea typeface="Roboto" panose="02000000000000000000" pitchFamily="2" charset="0"/>
                          <a:cs typeface="Roboto" panose="02000000000000000000" pitchFamily="2" charset="0"/>
                        </a:rPr>
                        <a:t> section D </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1407529909"/>
                  </a:ext>
                </a:extLst>
              </a:tr>
            </a:tbl>
          </a:graphicData>
        </a:graphic>
      </p:graphicFrame>
    </p:spTree>
    <p:extLst>
      <p:ext uri="{BB962C8B-B14F-4D97-AF65-F5344CB8AC3E}">
        <p14:creationId xmlns:p14="http://schemas.microsoft.com/office/powerpoint/2010/main" val="1024526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3</a:t>
            </a:r>
            <a:endParaRPr/>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Ethical and Legal Responsibility</a:t>
            </a:r>
            <a:endParaRPr dirty="0"/>
          </a:p>
        </p:txBody>
      </p:sp>
      <p:sp>
        <p:nvSpPr>
          <p:cNvPr id="469" name="Google Shape;469;p4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The student is aware of legal and ethical aspects within the context of their professional work environment and is able to make substantiated considerations in this regard. They act with justice and integrity. </a:t>
            </a:r>
          </a:p>
          <a:p>
            <a:pPr marL="0" lvl="0" indent="0" algn="r" rtl="0">
              <a:spcBef>
                <a:spcPts val="0"/>
              </a:spcBef>
              <a:spcAft>
                <a:spcPts val="0"/>
              </a:spcAft>
              <a:buNone/>
            </a:pPr>
            <a:endParaRPr lang="en-US" dirty="0"/>
          </a:p>
        </p:txBody>
      </p:sp>
      <p:sp>
        <p:nvSpPr>
          <p:cNvPr id="470" name="Google Shape;470;p49"/>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3</a:t>
            </a:r>
            <a:endParaRPr sz="40000">
              <a:solidFill>
                <a:srgbClr val="999999"/>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80C0D0F3-DF1D-25B7-09DD-B2B37CC317E2}"/>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30C4F663-5CDD-318C-84BA-F4D6A64EB2DC}"/>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3</a:t>
            </a:r>
            <a:endParaRPr dirty="0"/>
          </a:p>
        </p:txBody>
      </p:sp>
      <p:sp>
        <p:nvSpPr>
          <p:cNvPr id="394" name="Google Shape;394;p42">
            <a:extLst>
              <a:ext uri="{FF2B5EF4-FFF2-40B4-BE49-F238E27FC236}">
                <a16:creationId xmlns:a16="http://schemas.microsoft.com/office/drawing/2014/main" id="{7B19FA19-8B28-1914-4D55-F57ACF80FC08}"/>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D03BC4C0-E609-0645-FCEC-51019D8C02D6}"/>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223FA8A6-5B5E-D942-1BF7-77DFF37D885D}"/>
              </a:ext>
            </a:extLst>
          </p:cNvPr>
          <p:cNvSpPr txBox="1">
            <a:spLocks noGrp="1"/>
          </p:cNvSpPr>
          <p:nvPr>
            <p:ph type="title" idx="3"/>
          </p:nvPr>
        </p:nvSpPr>
        <p:spPr>
          <a:xfrm>
            <a:off x="2097740" y="73373"/>
            <a:ext cx="6422315"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100" dirty="0"/>
              <a:t>The student is aware of legal and ethical aspects within the context of their professional work environment and is able to make substantiated considerations in this regard. They act with justice and integrity. </a:t>
            </a:r>
            <a:br>
              <a:rPr lang="en-US" sz="1100" dirty="0"/>
            </a:br>
            <a:endParaRPr lang="en-US" sz="1100" dirty="0"/>
          </a:p>
        </p:txBody>
      </p:sp>
      <p:sp>
        <p:nvSpPr>
          <p:cNvPr id="397" name="Google Shape;397;p42">
            <a:extLst>
              <a:ext uri="{FF2B5EF4-FFF2-40B4-BE49-F238E27FC236}">
                <a16:creationId xmlns:a16="http://schemas.microsoft.com/office/drawing/2014/main" id="{93A0B96A-7E99-21A6-1CB2-489FB08D48D2}"/>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3</a:t>
            </a:r>
            <a:r>
              <a:rPr lang="en" dirty="0"/>
              <a:t>.</a:t>
            </a:r>
            <a:r>
              <a:rPr lang="en-US" dirty="0"/>
              <a:t>1</a:t>
            </a:r>
            <a:endParaRPr dirty="0"/>
          </a:p>
        </p:txBody>
      </p:sp>
      <p:sp>
        <p:nvSpPr>
          <p:cNvPr id="398" name="Google Shape;398;p42">
            <a:extLst>
              <a:ext uri="{FF2B5EF4-FFF2-40B4-BE49-F238E27FC236}">
                <a16:creationId xmlns:a16="http://schemas.microsoft.com/office/drawing/2014/main" id="{CD5897FF-17FD-EC63-2380-4A022DEC54EE}"/>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The student is able to identify, and analyze AI applications in fictional and real-life (business) scenarios by examining and applying relevant concepts from AI literature and theory.</a:t>
            </a:r>
            <a:endParaRPr lang="en-US" i="0" dirty="0"/>
          </a:p>
        </p:txBody>
      </p:sp>
      <p:sp>
        <p:nvSpPr>
          <p:cNvPr id="399" name="Google Shape;399;p42">
            <a:extLst>
              <a:ext uri="{FF2B5EF4-FFF2-40B4-BE49-F238E27FC236}">
                <a16:creationId xmlns:a16="http://schemas.microsoft.com/office/drawing/2014/main" id="{03F02E45-1D1B-3FAB-2EEA-97DE75003543}"/>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900" dirty="0"/>
              <a:t>Ethical and Legal Responsibility</a:t>
            </a:r>
          </a:p>
        </p:txBody>
      </p:sp>
      <p:graphicFrame>
        <p:nvGraphicFramePr>
          <p:cNvPr id="4" name="Table 3">
            <a:extLst>
              <a:ext uri="{FF2B5EF4-FFF2-40B4-BE49-F238E27FC236}">
                <a16:creationId xmlns:a16="http://schemas.microsoft.com/office/drawing/2014/main" id="{D8A919F8-2902-BD2D-CBE6-0378098CF9EB}"/>
              </a:ext>
            </a:extLst>
          </p:cNvPr>
          <p:cNvGraphicFramePr>
            <a:graphicFrameLocks noGrp="1"/>
          </p:cNvGraphicFramePr>
          <p:nvPr>
            <p:extLst>
              <p:ext uri="{D42A27DB-BD31-4B8C-83A1-F6EECF244321}">
                <p14:modId xmlns:p14="http://schemas.microsoft.com/office/powerpoint/2010/main" val="430643644"/>
              </p:ext>
            </p:extLst>
          </p:nvPr>
        </p:nvGraphicFramePr>
        <p:xfrm>
          <a:off x="0" y="1069800"/>
          <a:ext cx="9143999" cy="4131512"/>
        </p:xfrm>
        <a:graphic>
          <a:graphicData uri="http://schemas.openxmlformats.org/drawingml/2006/table">
            <a:tbl>
              <a:tblPr/>
              <a:tblGrid>
                <a:gridCol w="1676203">
                  <a:extLst>
                    <a:ext uri="{9D8B030D-6E8A-4147-A177-3AD203B41FA5}">
                      <a16:colId xmlns:a16="http://schemas.microsoft.com/office/drawing/2014/main" val="1946826867"/>
                    </a:ext>
                  </a:extLst>
                </a:gridCol>
                <a:gridCol w="1325144">
                  <a:extLst>
                    <a:ext uri="{9D8B030D-6E8A-4147-A177-3AD203B41FA5}">
                      <a16:colId xmlns:a16="http://schemas.microsoft.com/office/drawing/2014/main" val="2722072811"/>
                    </a:ext>
                  </a:extLst>
                </a:gridCol>
                <a:gridCol w="1338301">
                  <a:extLst>
                    <a:ext uri="{9D8B030D-6E8A-4147-A177-3AD203B41FA5}">
                      <a16:colId xmlns:a16="http://schemas.microsoft.com/office/drawing/2014/main" val="3290534058"/>
                    </a:ext>
                  </a:extLst>
                </a:gridCol>
                <a:gridCol w="1496191">
                  <a:extLst>
                    <a:ext uri="{9D8B030D-6E8A-4147-A177-3AD203B41FA5}">
                      <a16:colId xmlns:a16="http://schemas.microsoft.com/office/drawing/2014/main" val="749269228"/>
                    </a:ext>
                  </a:extLst>
                </a:gridCol>
                <a:gridCol w="1654080">
                  <a:extLst>
                    <a:ext uri="{9D8B030D-6E8A-4147-A177-3AD203B41FA5}">
                      <a16:colId xmlns:a16="http://schemas.microsoft.com/office/drawing/2014/main" val="3119643303"/>
                    </a:ext>
                  </a:extLst>
                </a:gridCol>
                <a:gridCol w="1654080">
                  <a:extLst>
                    <a:ext uri="{9D8B030D-6E8A-4147-A177-3AD203B41FA5}">
                      <a16:colId xmlns:a16="http://schemas.microsoft.com/office/drawing/2014/main" val="46269273"/>
                    </a:ext>
                  </a:extLst>
                </a:gridCol>
              </a:tblGrid>
              <a:tr h="142027">
                <a:tc>
                  <a:txBody>
                    <a:bodyPr/>
                    <a:lstStyle/>
                    <a:p>
                      <a:pPr algn="ctr" fontAlgn="ctr"/>
                      <a:r>
                        <a:rPr lang="en-US" sz="6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6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6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6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 (Points: 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6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D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6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E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85108605"/>
                  </a:ext>
                </a:extLst>
              </a:tr>
              <a:tr h="1239127">
                <a:tc>
                  <a:txBody>
                    <a:bodyPr/>
                    <a:lstStyle/>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Student submits a complete learning log, work log and self-assessment rubric. The student exhibits professional </a:t>
                      </a:r>
                      <a:r>
                        <a:rPr lang="en-US" sz="6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6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The chosen Sci-Fi movie or (TV) series must receive approval from the mentor. Additionally, presentation slides should be uploaded through Brightspace Assignments, and the presentation itself should be no longer than 7 minutes. Finally, the student must complete the </a:t>
                      </a:r>
                      <a:r>
                        <a:rPr lang="en-US" sz="6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Preparation Quizzes available on Brightspace before the set deadline.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identify, and describe an AI topic within a Sci-Fi movie or (TV) series, and connect it to the relevant domain(s), and subdomain(s) of the Taxonomy of AI.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provide one example of an AI application within a real-life (business) setting that is related to their chosen AI topic.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evaluate the technical feasibility of the AI topic by critically assessing its application within a real-life (business) setting.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articulate the potential ethical and/or legal consequences of implementing the chosen AI topic in a real-life (business) setting.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incorporate academic practices by including in-text citations and a reference list, and at least one scholarly source in the presentation.</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90927699"/>
                  </a:ext>
                </a:extLst>
              </a:tr>
              <a:tr h="1744518">
                <a:tc>
                  <a:txBody>
                    <a:bodyPr/>
                    <a:lstStyle/>
                    <a:p>
                      <a:pPr marL="0" lvl="0" indent="0" algn="l">
                        <a:lnSpc>
                          <a:spcPct val="100000"/>
                        </a:lnSpc>
                        <a:buNone/>
                      </a:pPr>
                      <a:r>
                        <a:rPr lang="en-US"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believe I am qualifying to get this criteria because my presentation was about 6 minute and 30 seconds, and I upload my pdf format of my PowerPoint to bright space and here is the link of my evidence</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US"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Here in my presentation if you watched it carefully and look at the 2:10 till 3:40 you see that I connect chat </a:t>
                      </a:r>
                      <a:r>
                        <a:rPr lang="en-US" sz="6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gpt</a:t>
                      </a:r>
                      <a:r>
                        <a:rPr lang="en-US"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and Dr Will Caster to the relevant Domains and subdomains of the taxonomy also I compared these two with their similarity and differences. </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US"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In my presentation video at the beginning of my video you see I was able to provide one example of an AI application with in real life from 0:55 till 2:16 and 3:33 till 4:10 I showed many example for this </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In my presentation if you look at 4:10 till 4:30 I explained about the technical and feasibility of the AI topic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US"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In my presentation if you look at this part of my presentation  4:35 till 5:40 you see I make the explanation to articulate the potential ethical and legal consequences of the chosen AI topic </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US" sz="6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If you look at the my presentation specially the end of my presentation last slide 6:11 I showed my evidence and I used more than one scholarly sources that is why I believe I am qualify to get all criteria of </a:t>
                      </a:r>
                      <a:r>
                        <a:rPr lang="en-US" sz="600" b="0" i="0" u="none" strike="noStrike" baseline="0" noProof="0">
                          <a:solidFill>
                            <a:srgbClr val="000000"/>
                          </a:solidFill>
                          <a:latin typeface="Roboto" panose="02000000000000000000" pitchFamily="2" charset="0"/>
                          <a:ea typeface="Roboto" panose="02000000000000000000" pitchFamily="2" charset="0"/>
                          <a:cs typeface="Roboto" panose="02000000000000000000" pitchFamily="2" charset="0"/>
                        </a:rPr>
                        <a:t>this part.</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48184317"/>
                  </a:ext>
                </a:extLst>
              </a:tr>
              <a:tr h="948029">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hlinkClick r:id="rId3"/>
                        </a:rPr>
                        <a:t>https://study.buas.nl/d2l/lms/dropbox/user/folders_list.d2l?ou=26107&amp;isprv=0</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ttps://edubuas-my.sharepoint.com/personal/harty_d_buas_nl/_layouts/15/stream.aspx?id=%2Fpersonal%2Fharty%5Fd%5Fbuas%5Fnl%2FDocuments%2FRecordings%2F244437%2Emp4&amp;referrer=StreamWebApp%2EWeb&amp;referrerScenario=AddressBarCopied%2Eview%2E32bad780%2Ddbe9%2D43f1%2D9006%2Dce4be727b18c</a:t>
                      </a:r>
                    </a:p>
                    <a:p>
                      <a:pPr algn="l" fontAlgn="ct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ttps://edubuas-my.sharepoint.com/personal/harty_d_buas_nl/_layouts/15/stream.aspx?id=%2Fpersonal%2Fharty%5Fd%5Fbuas%5Fnl%2FDocuments%2FRecordings%2F244437%2Emp4&amp;referrer=StreamWebApp%2EWeb&amp;referrerScenario=AddressBarCopied%2Eview%2E32bad780%2Ddbe9%2D43f1%2D9006%2Dce4be727b18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ttps://edubuas-my.sharepoint.com/personal/harty_d_buas_nl/_layouts/15/stream.aspx?id=%2Fpersonal%2Fharty%5Fd%5Fbuas%5Fnl%2FDocuments%2FRecordings%2F244437%2Emp4&amp;referrer=StreamWebApp%2EWeb&amp;referrerScenario=AddressBarCopied%2Eview%2E32bad780%2Ddbe9%2D43f1%2D9006%2Dce4be727b18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ttps://edubuas-my.sharepoint.com/personal/harty_d_buas_nl/_layouts/15/stream.aspx?id=%2Fpersonal%2Fharty%5Fd%5Fbuas%5Fnl%2FDocuments%2FRecordings%2F244437%2Emp4&amp;referrer=StreamWebApp%2EWeb&amp;referrerScenario=AddressBarCopied%2Eview%2E32bad780%2Ddbe9%2D43f1%2D9006%2Dce4be727b18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6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https://edubuas-my.sharepoint.com/personal/harty_d_buas_nl/_layouts/15/stream.aspx?id=%2Fpersonal%2Fharty%5Fd%5Fbuas%5Fnl%2FDocuments%2FRecordings%2F244437%2Emp4&amp;referrer=StreamWebApp%2EWeb&amp;referrerScenario=AddressBarCopied%2Eview%2E32bad780%2Ddbe9%2D43f1%2D9006%2Dce4be727b18c</a:t>
                      </a:r>
                      <a:endParaRPr lang="en-US" sz="6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1407529909"/>
                  </a:ext>
                </a:extLst>
              </a:tr>
            </a:tbl>
          </a:graphicData>
        </a:graphic>
      </p:graphicFrame>
    </p:spTree>
    <p:extLst>
      <p:ext uri="{BB962C8B-B14F-4D97-AF65-F5344CB8AC3E}">
        <p14:creationId xmlns:p14="http://schemas.microsoft.com/office/powerpoint/2010/main" val="1734670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7</a:t>
            </a:r>
            <a:endParaRPr dirty="0"/>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Data Analysis</a:t>
            </a:r>
            <a:endParaRPr dirty="0"/>
          </a:p>
        </p:txBody>
      </p:sp>
      <p:sp>
        <p:nvSpPr>
          <p:cNvPr id="469" name="Google Shape;469;p4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dirty="0"/>
              <a:t>The student can use analytical and statistical methods to </a:t>
            </a:r>
            <a:r>
              <a:rPr lang="en-GB" dirty="0" err="1"/>
              <a:t>analyze</a:t>
            </a:r>
            <a:r>
              <a:rPr lang="en-GB" dirty="0"/>
              <a:t> data to create value for individuals, organizations and domains. </a:t>
            </a:r>
          </a:p>
          <a:p>
            <a:pPr marL="0" lvl="0" indent="0" algn="r" rtl="0">
              <a:spcBef>
                <a:spcPts val="0"/>
              </a:spcBef>
              <a:spcAft>
                <a:spcPts val="0"/>
              </a:spcAft>
              <a:buNone/>
            </a:pPr>
            <a:endParaRPr lang="en-GB" dirty="0"/>
          </a:p>
          <a:p>
            <a:pPr marL="0" lvl="0" indent="0" algn="r" rtl="0">
              <a:spcBef>
                <a:spcPts val="0"/>
              </a:spcBef>
              <a:spcAft>
                <a:spcPts val="0"/>
              </a:spcAft>
              <a:buNone/>
            </a:pPr>
            <a:r>
              <a:rPr lang="en-GB" dirty="0"/>
              <a:t> </a:t>
            </a:r>
            <a:endParaRPr dirty="0"/>
          </a:p>
        </p:txBody>
      </p:sp>
      <p:sp>
        <p:nvSpPr>
          <p:cNvPr id="470" name="Google Shape;470;p49"/>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dirty="0">
                <a:solidFill>
                  <a:srgbClr val="999999"/>
                </a:solidFill>
                <a:latin typeface="Roboto"/>
                <a:ea typeface="Roboto"/>
                <a:cs typeface="Roboto"/>
                <a:sym typeface="Roboto"/>
              </a:rPr>
              <a:t>7</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41115616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5BE77DF4-C60B-E993-CFD5-E2C112F9740F}"/>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81AEB320-A954-A31B-7DDC-4B43AA6029D0}"/>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7</a:t>
            </a:r>
            <a:endParaRPr dirty="0"/>
          </a:p>
        </p:txBody>
      </p:sp>
      <p:sp>
        <p:nvSpPr>
          <p:cNvPr id="394" name="Google Shape;394;p42">
            <a:extLst>
              <a:ext uri="{FF2B5EF4-FFF2-40B4-BE49-F238E27FC236}">
                <a16:creationId xmlns:a16="http://schemas.microsoft.com/office/drawing/2014/main" id="{5D87170E-8D6D-6B0A-07CA-E696C6918887}"/>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D281877C-76FA-DE5A-43FD-6B15ABC8FD81}"/>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75EBA52F-314E-ACB0-6E03-9455B6CFAC2E}"/>
              </a:ext>
            </a:extLst>
          </p:cNvPr>
          <p:cNvSpPr txBox="1">
            <a:spLocks noGrp="1"/>
          </p:cNvSpPr>
          <p:nvPr>
            <p:ph type="title" idx="3"/>
          </p:nvPr>
        </p:nvSpPr>
        <p:spPr>
          <a:xfrm>
            <a:off x="1840065" y="73373"/>
            <a:ext cx="6099079"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sz="1100" dirty="0"/>
              <a:t>The student can use analytical and statistical methods to </a:t>
            </a:r>
            <a:r>
              <a:rPr lang="en-GB" sz="1100" dirty="0" err="1"/>
              <a:t>analyze</a:t>
            </a:r>
            <a:r>
              <a:rPr lang="en-GB" sz="1100" dirty="0"/>
              <a:t> data to create value for individuals, organizations and domains. </a:t>
            </a:r>
            <a:br>
              <a:rPr lang="en-GB" sz="1100" dirty="0"/>
            </a:br>
            <a:br>
              <a:rPr lang="en-GB" sz="1100" dirty="0"/>
            </a:br>
            <a:r>
              <a:rPr lang="en-GB" sz="1100" dirty="0"/>
              <a:t> </a:t>
            </a:r>
          </a:p>
        </p:txBody>
      </p:sp>
      <p:sp>
        <p:nvSpPr>
          <p:cNvPr id="397" name="Google Shape;397;p42">
            <a:extLst>
              <a:ext uri="{FF2B5EF4-FFF2-40B4-BE49-F238E27FC236}">
                <a16:creationId xmlns:a16="http://schemas.microsoft.com/office/drawing/2014/main" id="{49B7DF98-47B8-582E-8191-1FCEC46A2407}"/>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7</a:t>
            </a:r>
            <a:r>
              <a:rPr lang="en" dirty="0"/>
              <a:t>.</a:t>
            </a:r>
            <a:r>
              <a:rPr lang="en-US" dirty="0"/>
              <a:t>1</a:t>
            </a:r>
            <a:endParaRPr dirty="0"/>
          </a:p>
        </p:txBody>
      </p:sp>
      <p:sp>
        <p:nvSpPr>
          <p:cNvPr id="398" name="Google Shape;398;p42">
            <a:extLst>
              <a:ext uri="{FF2B5EF4-FFF2-40B4-BE49-F238E27FC236}">
                <a16:creationId xmlns:a16="http://schemas.microsoft.com/office/drawing/2014/main" id="{61C84108-E431-4398-CFAC-362C1AB05A22}"/>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The student can use analytical and statistical methods to analyze data to create value for individuals, organizations and domains. </a:t>
            </a:r>
            <a:endParaRPr lang="en-US" i="0" dirty="0"/>
          </a:p>
        </p:txBody>
      </p:sp>
      <p:sp>
        <p:nvSpPr>
          <p:cNvPr id="399" name="Google Shape;399;p42">
            <a:extLst>
              <a:ext uri="{FF2B5EF4-FFF2-40B4-BE49-F238E27FC236}">
                <a16:creationId xmlns:a16="http://schemas.microsoft.com/office/drawing/2014/main" id="{5448309E-CE1F-C045-1F2A-BDC14DBA9656}"/>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Data Analysis</a:t>
            </a:r>
            <a:endParaRPr sz="900" dirty="0"/>
          </a:p>
        </p:txBody>
      </p:sp>
      <p:graphicFrame>
        <p:nvGraphicFramePr>
          <p:cNvPr id="4" name="Table 3">
            <a:extLst>
              <a:ext uri="{FF2B5EF4-FFF2-40B4-BE49-F238E27FC236}">
                <a16:creationId xmlns:a16="http://schemas.microsoft.com/office/drawing/2014/main" id="{122378BB-51B4-4D05-8565-EB0A18F2B9EE}"/>
              </a:ext>
            </a:extLst>
          </p:cNvPr>
          <p:cNvGraphicFramePr>
            <a:graphicFrameLocks noGrp="1"/>
          </p:cNvGraphicFramePr>
          <p:nvPr>
            <p:extLst>
              <p:ext uri="{D42A27DB-BD31-4B8C-83A1-F6EECF244321}">
                <p14:modId xmlns:p14="http://schemas.microsoft.com/office/powerpoint/2010/main" val="748878675"/>
              </p:ext>
            </p:extLst>
          </p:nvPr>
        </p:nvGraphicFramePr>
        <p:xfrm>
          <a:off x="0" y="1069801"/>
          <a:ext cx="9144000" cy="4337716"/>
        </p:xfrm>
        <a:graphic>
          <a:graphicData uri="http://schemas.openxmlformats.org/drawingml/2006/table">
            <a:tbl>
              <a:tblPr/>
              <a:tblGrid>
                <a:gridCol w="1702560">
                  <a:extLst>
                    <a:ext uri="{9D8B030D-6E8A-4147-A177-3AD203B41FA5}">
                      <a16:colId xmlns:a16="http://schemas.microsoft.com/office/drawing/2014/main" val="1946826867"/>
                    </a:ext>
                  </a:extLst>
                </a:gridCol>
                <a:gridCol w="1320467">
                  <a:extLst>
                    <a:ext uri="{9D8B030D-6E8A-4147-A177-3AD203B41FA5}">
                      <a16:colId xmlns:a16="http://schemas.microsoft.com/office/drawing/2014/main" val="2722072811"/>
                    </a:ext>
                  </a:extLst>
                </a:gridCol>
                <a:gridCol w="1333578">
                  <a:extLst>
                    <a:ext uri="{9D8B030D-6E8A-4147-A177-3AD203B41FA5}">
                      <a16:colId xmlns:a16="http://schemas.microsoft.com/office/drawing/2014/main" val="3290534058"/>
                    </a:ext>
                  </a:extLst>
                </a:gridCol>
                <a:gridCol w="1490911">
                  <a:extLst>
                    <a:ext uri="{9D8B030D-6E8A-4147-A177-3AD203B41FA5}">
                      <a16:colId xmlns:a16="http://schemas.microsoft.com/office/drawing/2014/main" val="749269228"/>
                    </a:ext>
                  </a:extLst>
                </a:gridCol>
                <a:gridCol w="1607643">
                  <a:extLst>
                    <a:ext uri="{9D8B030D-6E8A-4147-A177-3AD203B41FA5}">
                      <a16:colId xmlns:a16="http://schemas.microsoft.com/office/drawing/2014/main" val="3119643303"/>
                    </a:ext>
                  </a:extLst>
                </a:gridCol>
                <a:gridCol w="1688841">
                  <a:extLst>
                    <a:ext uri="{9D8B030D-6E8A-4147-A177-3AD203B41FA5}">
                      <a16:colId xmlns:a16="http://schemas.microsoft.com/office/drawing/2014/main" val="46269273"/>
                    </a:ext>
                  </a:extLst>
                </a:gridCol>
              </a:tblGrid>
              <a:tr h="136249">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 (Points: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85108605"/>
                  </a:ext>
                </a:extLst>
              </a:tr>
              <a:tr h="90946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Both the raw data files and the processed data files before the visualizations are built must be provided. The document detailing the process is submitted. 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describe data using measure of central tendency such as mean, median, mode or measures of dispersion such as standard deviation, range and IQR and determine which measure is best applicable to solve a use-case.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can effectively apply fundamental data manipulation tools and techniques to organize and prepare data for visualization.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calculate and interpret measures of association such as a correlation coefficient that addresses the use-case, documenting the process.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utilize advanced data manipulation techniques to efficiently manipulate and structure data for visualization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recognize the data science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lifecyle</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as an iterative process and can clearly distinguish between phases of CRISP-DM , documenting the process.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90927699"/>
                  </a:ext>
                </a:extLst>
              </a:tr>
              <a:tr h="2118523">
                <a:tc>
                  <a:txBody>
                    <a:bodyPr/>
                    <a:lstStyle/>
                    <a:p>
                      <a:pPr marL="0" lvl="0" indent="0" algn="l">
                        <a:lnSpc>
                          <a:spcPct val="100000"/>
                        </a:lnSpc>
                        <a:buNone/>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Well, I get my data from different sources and uploaded to my </a:t>
                      </a:r>
                      <a:r>
                        <a:rPr lang="en-US"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PowerBI</a:t>
                      </a: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and I tried to clean it there  and here my raw data that I get and uploaded to my power BI.</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couldn’t use all of it because for my data all of them doesn’t make sense so I just use many of them to make my dashboard easy to understand like correlation coefficient and median average and standard </a:t>
                      </a:r>
                      <a:r>
                        <a:rPr lang="en-US" sz="700" b="0" i="0" u="none" strike="noStrike" baseline="0" noProof="0" dirty="0" err="1">
                          <a:solidFill>
                            <a:srgbClr val="000000"/>
                          </a:solidFill>
                          <a:latin typeface="Roboto" panose="02000000000000000000" pitchFamily="2" charset="0"/>
                          <a:ea typeface="Roboto" panose="02000000000000000000" pitchFamily="2" charset="0"/>
                          <a:cs typeface="Roboto" panose="02000000000000000000" pitchFamily="2" charset="0"/>
                        </a:rPr>
                        <a:t>devition</a:t>
                      </a: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a:t>
                      </a:r>
                      <a:b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b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learned how to calculate all of them I just did not use all of them in my dashboard and it is the evidence for my dashboard.</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Based on my dashboard you are able to see I used many visualization for different purpose and as you can see my dashboard for example to comparing I use pie chat or to show value I used line chart and bar chart and to show correlation I used scatter plot and card to show some value.</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In page 3 and page 4 I used correlation coefficient one in card and the other one in scatter plot so I think I able to get this criteria </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If you look at to my data you see I also did some extra work like normalize y data or make a new table to can compare my data easily and more clear </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lvl="0" indent="0" algn="l">
                        <a:lnSpc>
                          <a:spcPct val="100000"/>
                        </a:lnSpc>
                        <a:buNone/>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So Based on my dashboard and my crisp dm as you can see I filled the crisp dm based on my dashboard and in my dashboard I try my best to pass all the criteria of dashboard.</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48184317"/>
                  </a:ext>
                </a:extLst>
              </a:tr>
              <a:tr h="909464">
                <a:tc>
                  <a:txBody>
                    <a:bodyPr/>
                    <a:lstStyle/>
                    <a:p>
                      <a:pPr algn="l" fontAlgn="ct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https://github.com/BredaUniversityADSAI/2024-25A-FAI1-ADSAI--MohammadaliJaberi244437/blob/main/RAW%20DATA.png</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3"/>
                        </a:rPr>
                        <a:t>https://github.com/BredaUniversityADSAI/2024-25A-FAI1-ADSAI--MohammadaliJaberi244437/blob/main/evidence%20of%20correlation.png</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lang="en-US" sz="700" b="0" i="0" u="none" strike="noStrike" dirty="0">
                        <a:solidFill>
                          <a:schemeClr val="tx2">
                            <a:lumMod val="10000"/>
                          </a:schemeClr>
                        </a:solidFill>
                        <a:effectLs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https://github.com/BredaUniversityADSAI/2024-25A-FAI1-ADSAI--MohammadaliJaberi244437/blob/main/median%20and%20average%20dashboard%20.png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hlinkClick r:id="rId4"/>
                        </a:rPr>
                        <a:t>https://github.com/BredaUniversityADSAI/2024-25A-FAI1-ADSAI--MohammadaliJaberi244437/blob/main/power%20bi%20(not%20ready%20yet).pbix</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4"/>
                        </a:rPr>
                        <a:t>https://github.com/BredaUniversityADSAI/2024-25A-FAI1-ADSAI--MohammadaliJaberi244437/blob/main/power%20bi%20(not%20ready%20yet).pbix</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https://github.com/BredaUniversityADSAI/2024-25A-FAI1-ADSAI--MohammadaliJaberi244437/blob/main/power%20bi%20(not%20ready%20yet).pbix</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rPr>
                        <a:t>https://github.com/BredaUniversityADSAI/2024-25A-FAI1-ADSAI--MohammadaliJaberi244437/blob/main/power%20bi%20(not%20ready%20yet).pbix</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1407529909"/>
                  </a:ext>
                </a:extLst>
              </a:tr>
            </a:tbl>
          </a:graphicData>
        </a:graphic>
      </p:graphicFrame>
    </p:spTree>
    <p:extLst>
      <p:ext uri="{BB962C8B-B14F-4D97-AF65-F5344CB8AC3E}">
        <p14:creationId xmlns:p14="http://schemas.microsoft.com/office/powerpoint/2010/main" val="2959613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6">
          <a:extLst>
            <a:ext uri="{FF2B5EF4-FFF2-40B4-BE49-F238E27FC236}">
              <a16:creationId xmlns:a16="http://schemas.microsoft.com/office/drawing/2014/main" id="{51806DED-7442-C571-EB12-DDF642A8A7D4}"/>
            </a:ext>
          </a:extLst>
        </p:cNvPr>
        <p:cNvGrpSpPr/>
        <p:nvPr/>
      </p:nvGrpSpPr>
      <p:grpSpPr>
        <a:xfrm>
          <a:off x="0" y="0"/>
          <a:ext cx="0" cy="0"/>
          <a:chOff x="0" y="0"/>
          <a:chExt cx="0" cy="0"/>
        </a:xfrm>
      </p:grpSpPr>
      <p:sp>
        <p:nvSpPr>
          <p:cNvPr id="467" name="Google Shape;467;p49">
            <a:extLst>
              <a:ext uri="{FF2B5EF4-FFF2-40B4-BE49-F238E27FC236}">
                <a16:creationId xmlns:a16="http://schemas.microsoft.com/office/drawing/2014/main" id="{DBC7FD91-1B30-EBB6-48D3-6E314B7456D4}"/>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10</a:t>
            </a:r>
            <a:endParaRPr dirty="0"/>
          </a:p>
        </p:txBody>
      </p:sp>
      <p:sp>
        <p:nvSpPr>
          <p:cNvPr id="468" name="Google Shape;468;p49">
            <a:extLst>
              <a:ext uri="{FF2B5EF4-FFF2-40B4-BE49-F238E27FC236}">
                <a16:creationId xmlns:a16="http://schemas.microsoft.com/office/drawing/2014/main" id="{18769213-B9C5-7707-3628-384D57212FD5}"/>
              </a:ext>
            </a:extLst>
          </p:cNvPr>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Visualization</a:t>
            </a:r>
            <a:endParaRPr dirty="0"/>
          </a:p>
        </p:txBody>
      </p:sp>
      <p:sp>
        <p:nvSpPr>
          <p:cNvPr id="469" name="Google Shape;469;p49">
            <a:extLst>
              <a:ext uri="{FF2B5EF4-FFF2-40B4-BE49-F238E27FC236}">
                <a16:creationId xmlns:a16="http://schemas.microsoft.com/office/drawing/2014/main" id="{5B112C09-34DB-0701-FCFD-094242A5A5BF}"/>
              </a:ext>
            </a:extLst>
          </p:cNvPr>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dirty="0"/>
              <a:t>The student can apply visualization and storytelling techniques and skills to effectively and accurately inform stakeholders about (interim) results of AI and DS approaches. </a:t>
            </a:r>
          </a:p>
          <a:p>
            <a:pPr marL="0" lvl="0" indent="0" algn="r" rtl="0">
              <a:spcBef>
                <a:spcPts val="0"/>
              </a:spcBef>
              <a:spcAft>
                <a:spcPts val="0"/>
              </a:spcAft>
              <a:buNone/>
            </a:pPr>
            <a:endParaRPr lang="en-GB" dirty="0"/>
          </a:p>
        </p:txBody>
      </p:sp>
      <p:sp>
        <p:nvSpPr>
          <p:cNvPr id="470" name="Google Shape;470;p49">
            <a:extLst>
              <a:ext uri="{FF2B5EF4-FFF2-40B4-BE49-F238E27FC236}">
                <a16:creationId xmlns:a16="http://schemas.microsoft.com/office/drawing/2014/main" id="{2D3C4998-4F9A-3ECB-2985-6A02526D2FBD}"/>
              </a:ext>
            </a:extLst>
          </p:cNvPr>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0" dirty="0">
                <a:solidFill>
                  <a:srgbClr val="999999"/>
                </a:solidFill>
                <a:latin typeface="Roboto"/>
                <a:ea typeface="Roboto"/>
                <a:cs typeface="Roboto"/>
                <a:sym typeface="Roboto"/>
              </a:rPr>
              <a:t>10</a:t>
            </a:r>
            <a:endParaRPr sz="2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5349086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66CDF1C2-4699-9074-0496-4886C7EA0FC5}"/>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08BAD8D4-7305-8598-3D8B-C44D6649AE36}"/>
              </a:ext>
            </a:extLst>
          </p:cNvPr>
          <p:cNvSpPr txBox="1">
            <a:spLocks noGrp="1"/>
          </p:cNvSpPr>
          <p:nvPr>
            <p:ph type="title"/>
          </p:nvPr>
        </p:nvSpPr>
        <p:spPr>
          <a:xfrm>
            <a:off x="68250" y="0"/>
            <a:ext cx="90795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10</a:t>
            </a:r>
            <a:endParaRPr dirty="0"/>
          </a:p>
        </p:txBody>
      </p:sp>
      <p:sp>
        <p:nvSpPr>
          <p:cNvPr id="394" name="Google Shape;394;p42">
            <a:extLst>
              <a:ext uri="{FF2B5EF4-FFF2-40B4-BE49-F238E27FC236}">
                <a16:creationId xmlns:a16="http://schemas.microsoft.com/office/drawing/2014/main" id="{48EA9C23-B60F-EFE2-1E4B-CA7988F4CC5A}"/>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383D5F96-501C-3E87-F575-ADBD2C02F66D}"/>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0DFDD3B0-6830-4139-79BE-E425FE1FF777}"/>
              </a:ext>
            </a:extLst>
          </p:cNvPr>
          <p:cNvSpPr txBox="1">
            <a:spLocks noGrp="1"/>
          </p:cNvSpPr>
          <p:nvPr>
            <p:ph type="title" idx="3"/>
          </p:nvPr>
        </p:nvSpPr>
        <p:spPr>
          <a:xfrm>
            <a:off x="2054711" y="0"/>
            <a:ext cx="676656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sz="1100" dirty="0"/>
              <a:t>The student can apply visualization and storytelling techniques and skills to effectively and accurately inform stakeholders about (interim) results of AI and DS approaches. </a:t>
            </a:r>
          </a:p>
        </p:txBody>
      </p:sp>
      <p:sp>
        <p:nvSpPr>
          <p:cNvPr id="397" name="Google Shape;397;p42">
            <a:extLst>
              <a:ext uri="{FF2B5EF4-FFF2-40B4-BE49-F238E27FC236}">
                <a16:creationId xmlns:a16="http://schemas.microsoft.com/office/drawing/2014/main" id="{CF334CE0-EA72-3D6A-3110-3308FBE660EC}"/>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000" dirty="0"/>
              <a:t>10</a:t>
            </a:r>
            <a:r>
              <a:rPr lang="en" sz="3000" dirty="0"/>
              <a:t>.</a:t>
            </a:r>
            <a:r>
              <a:rPr lang="en-US" sz="3000" dirty="0"/>
              <a:t>1</a:t>
            </a:r>
            <a:endParaRPr sz="3000" dirty="0"/>
          </a:p>
        </p:txBody>
      </p:sp>
      <p:sp>
        <p:nvSpPr>
          <p:cNvPr id="398" name="Google Shape;398;p42">
            <a:extLst>
              <a:ext uri="{FF2B5EF4-FFF2-40B4-BE49-F238E27FC236}">
                <a16:creationId xmlns:a16="http://schemas.microsoft.com/office/drawing/2014/main" id="{CD7A760C-CE82-B1F6-E059-9CEB41C5BADC}"/>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NL" i="0"/>
              <a:t>The student is able to produce relevant and understandable data visualizations or reports for specific targets groups using industry standard tools.</a:t>
            </a:r>
            <a:endParaRPr lang="en-US" i="0" dirty="0"/>
          </a:p>
        </p:txBody>
      </p:sp>
      <p:sp>
        <p:nvSpPr>
          <p:cNvPr id="399" name="Google Shape;399;p42">
            <a:extLst>
              <a:ext uri="{FF2B5EF4-FFF2-40B4-BE49-F238E27FC236}">
                <a16:creationId xmlns:a16="http://schemas.microsoft.com/office/drawing/2014/main" id="{CAAB0FDC-F662-C148-6A44-75F8A457D0AD}"/>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Visualization</a:t>
            </a:r>
            <a:endParaRPr sz="900" dirty="0"/>
          </a:p>
        </p:txBody>
      </p:sp>
      <p:graphicFrame>
        <p:nvGraphicFramePr>
          <p:cNvPr id="4" name="Table 3">
            <a:extLst>
              <a:ext uri="{FF2B5EF4-FFF2-40B4-BE49-F238E27FC236}">
                <a16:creationId xmlns:a16="http://schemas.microsoft.com/office/drawing/2014/main" id="{B35F64D0-ACEE-1677-2E18-A0B2FEF33344}"/>
              </a:ext>
            </a:extLst>
          </p:cNvPr>
          <p:cNvGraphicFramePr>
            <a:graphicFrameLocks noGrp="1"/>
          </p:cNvGraphicFramePr>
          <p:nvPr>
            <p:extLst>
              <p:ext uri="{D42A27DB-BD31-4B8C-83A1-F6EECF244321}">
                <p14:modId xmlns:p14="http://schemas.microsoft.com/office/powerpoint/2010/main" val="2337814859"/>
              </p:ext>
            </p:extLst>
          </p:nvPr>
        </p:nvGraphicFramePr>
        <p:xfrm>
          <a:off x="0" y="1069801"/>
          <a:ext cx="9144000" cy="4444396"/>
        </p:xfrm>
        <a:graphic>
          <a:graphicData uri="http://schemas.openxmlformats.org/drawingml/2006/table">
            <a:tbl>
              <a:tblPr/>
              <a:tblGrid>
                <a:gridCol w="1586204">
                  <a:extLst>
                    <a:ext uri="{9D8B030D-6E8A-4147-A177-3AD203B41FA5}">
                      <a16:colId xmlns:a16="http://schemas.microsoft.com/office/drawing/2014/main" val="1946826867"/>
                    </a:ext>
                  </a:extLst>
                </a:gridCol>
                <a:gridCol w="1436823">
                  <a:extLst>
                    <a:ext uri="{9D8B030D-6E8A-4147-A177-3AD203B41FA5}">
                      <a16:colId xmlns:a16="http://schemas.microsoft.com/office/drawing/2014/main" val="2722072811"/>
                    </a:ext>
                  </a:extLst>
                </a:gridCol>
                <a:gridCol w="1333578">
                  <a:extLst>
                    <a:ext uri="{9D8B030D-6E8A-4147-A177-3AD203B41FA5}">
                      <a16:colId xmlns:a16="http://schemas.microsoft.com/office/drawing/2014/main" val="3290534058"/>
                    </a:ext>
                  </a:extLst>
                </a:gridCol>
                <a:gridCol w="1490911">
                  <a:extLst>
                    <a:ext uri="{9D8B030D-6E8A-4147-A177-3AD203B41FA5}">
                      <a16:colId xmlns:a16="http://schemas.microsoft.com/office/drawing/2014/main" val="749269228"/>
                    </a:ext>
                  </a:extLst>
                </a:gridCol>
                <a:gridCol w="1648242">
                  <a:extLst>
                    <a:ext uri="{9D8B030D-6E8A-4147-A177-3AD203B41FA5}">
                      <a16:colId xmlns:a16="http://schemas.microsoft.com/office/drawing/2014/main" val="3119643303"/>
                    </a:ext>
                  </a:extLst>
                </a:gridCol>
                <a:gridCol w="1648242">
                  <a:extLst>
                    <a:ext uri="{9D8B030D-6E8A-4147-A177-3AD203B41FA5}">
                      <a16:colId xmlns:a16="http://schemas.microsoft.com/office/drawing/2014/main" val="46269273"/>
                    </a:ext>
                  </a:extLst>
                </a:gridCol>
              </a:tblGrid>
              <a:tr h="136249">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Pre - requisite (s)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B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C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D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7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E (Points: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85108605"/>
                  </a:ext>
                </a:extLst>
              </a:tr>
              <a:tr h="909464">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should submit the dashboard and the document detailing the process, addressing the creative brief. Student submits  a complete learning log, work log and self-assessment rubric. The student exhibits professional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the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compose a clear data-driven research question and is able to import data from 'flat-file' format to the visualization tool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identify the variable types in the chosen dataset, select, clean and/or transform an appropriate dataset to answer the data-driven research question.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generate appropriate visuals, effectively explain the generated visuals, link the explanations to the data driven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reasearch</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question, and justify their creation.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utilize advanced functions in the visualization tool. The student is able to create a user-friendly dashboard, adhering to UI/UX principles. The rationale connecting these advanced visuals to the data-driven research question is documented.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identify the shortcomings of the current implementation and  propose next steps for future research.</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90927699"/>
                  </a:ext>
                </a:extLst>
              </a:tr>
              <a:tr h="2118523">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Based on bright space and criteria that I had I tried my best to make a good dashboard and also I filled weekly my learning log and work log.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lvl="0" indent="0" algn="l">
                        <a:lnSpc>
                          <a:spcPct val="100000"/>
                        </a:lnSpc>
                        <a:buNone/>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If you look at my dashboard and template that I make evidence from it I was able to make a good research question and also I was able to import unclear data from flat file and make it clean and sorted.</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lvl="0" indent="0" algn="l">
                        <a:lnSpc>
                          <a:spcPct val="100000"/>
                        </a:lnSpc>
                        <a:buNone/>
                      </a:pPr>
                      <a:r>
                        <a:rPr lang="en-GB" sz="700" b="0" i="0" u="none" strike="noStrike" baseline="0" noProof="0" dirty="0">
                          <a:solidFill>
                            <a:srgbClr val="000000"/>
                          </a:solidFill>
                          <a:effectLst/>
                          <a:latin typeface="Roboto" panose="02000000000000000000" pitchFamily="2" charset="0"/>
                          <a:ea typeface="Roboto" panose="02000000000000000000" pitchFamily="2" charset="0"/>
                          <a:cs typeface="Roboto" panose="02000000000000000000" pitchFamily="2" charset="0"/>
                        </a:rPr>
                        <a:t>If you take a look to my presentation and look at my visualization you understand that I have to be able to clean my data to make a many visualization.</a:t>
                      </a:r>
                    </a:p>
                    <a:p>
                      <a:pPr marL="0" lvl="0" indent="0" algn="l">
                        <a:lnSpc>
                          <a:spcPct val="100000"/>
                        </a:lnSpc>
                        <a:buNone/>
                      </a:pPr>
                      <a:r>
                        <a:rPr lang="en-GB" sz="700" b="0" i="0" u="none" strike="noStrike" baseline="0" noProof="0" dirty="0">
                          <a:solidFill>
                            <a:srgbClr val="000000"/>
                          </a:solidFill>
                          <a:effectLst/>
                          <a:latin typeface="Roboto" panose="02000000000000000000" pitchFamily="2" charset="0"/>
                          <a:ea typeface="Roboto" panose="02000000000000000000" pitchFamily="2" charset="0"/>
                          <a:cs typeface="Roboto" panose="02000000000000000000" pitchFamily="2" charset="0"/>
                        </a:rPr>
                        <a:t>I clean my data ever time that I want to import I and change their data type to be able to compare it with my others data. </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If you look at my dashboard you see I used to many visualization like pie chart line chart to can convey my data clearly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 create friendly dashboard I used some visualization like card or gauge to make it easy for understand.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In my dashboard to make it easy for understand I change some of  my data like I did normalize some of my data.</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2748184317"/>
                  </a:ext>
                </a:extLst>
              </a:tr>
              <a:tr h="909464">
                <a:tc>
                  <a:txBody>
                    <a:bodyPr/>
                    <a:lstStyle/>
                    <a:p>
                      <a:pPr algn="l" fontAlgn="ct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3"/>
                        </a:rPr>
                        <a:t>https://github.com/BredaUniversityADSAI/2024-25A-FAI1-ADSAI--MohammadaliJaberi244437/blob/main/power%20bi%20(not%20ready%20yet).pbix</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https://github.com/BredaUniversityADSAI/2024-25A-FAI1-ADSAI--MohammadaliJaberi244437/blob/main/power%20bi%20(not%20ready%20yet).pbix</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hlinkClick r:id="rId4"/>
                        </a:rPr>
                        <a:t>https://github.com/BredaUniversityADSAI/2024-25A-FAI1-ADSAI--MohammadaliJaberi244437/blob/main/DS1_Dashboard_Mohammadali.pbix</a:t>
                      </a: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3"/>
                        </a:rPr>
                        <a:t>https://github.com/BredaUniversityADSAI/2024-25A-FAI1-ADSAI--MohammadaliJaberi244437/blob/main/power%20bi%20(not%20ready%20yet).pbix</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3"/>
                        </a:rPr>
                        <a:t>https://github.com/BredaUniversityADSAI/2024-25A-FAI1-ADSAI--MohammadaliJaberi244437/blob/main/power%20bi%20(not%20ready%20yet).pbix</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3"/>
                        </a:rPr>
                        <a:t>https://github.com/BredaUniversityADSAI/2024-25A-FAI1-ADSAI--MohammadaliJaberi244437/blob/main/power%20bi%20(not%20ready%20yet).pbix</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ctr"/>
                      <a:r>
                        <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hlinkClick r:id="rId3"/>
                        </a:rPr>
                        <a:t>https://github.com/BredaUniversityADSAI/2024-25A-FAI1-ADSAI--MohammadaliJaberi244437/blob/main/power%20bi%20(not%20ready%20yet).pbix</a:t>
                      </a:r>
                      <a:endParaRPr lang="en-US" sz="700" dirty="0">
                        <a:solidFill>
                          <a:schemeClr val="tx2">
                            <a:lumMod val="10000"/>
                          </a:schemeClr>
                        </a:solidFill>
                        <a:latin typeface="Roboto" panose="02000000000000000000" pitchFamily="2" charset="0"/>
                        <a:ea typeface="Roboto" panose="02000000000000000000" pitchFamily="2" charset="0"/>
                        <a:cs typeface="Roboto" panose="02000000000000000000" pitchFamily="2" charset="0"/>
                      </a:endParaRPr>
                    </a:p>
                    <a:p>
                      <a:pPr algn="l" fontAlgn="ctr"/>
                      <a:endPar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D"/>
                    </a:solidFill>
                  </a:tcPr>
                </a:tc>
                <a:extLst>
                  <a:ext uri="{0D108BD9-81ED-4DB2-BD59-A6C34878D82A}">
                    <a16:rowId xmlns:a16="http://schemas.microsoft.com/office/drawing/2014/main" val="1407529909"/>
                  </a:ext>
                </a:extLst>
              </a:tr>
            </a:tbl>
          </a:graphicData>
        </a:graphic>
      </p:graphicFrame>
    </p:spTree>
    <p:extLst>
      <p:ext uri="{BB962C8B-B14F-4D97-AF65-F5344CB8AC3E}">
        <p14:creationId xmlns:p14="http://schemas.microsoft.com/office/powerpoint/2010/main" val="34308232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a:t>
            </a:r>
            <a:r>
              <a:rPr lang="en-NL" dirty="0" err="1"/>
              <a:t>edal</a:t>
            </a:r>
            <a:r>
              <a:rPr lang="en-NL" dirty="0"/>
              <a:t> Challenges</a:t>
            </a:r>
            <a:endParaRPr dirty="0"/>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dirty="0"/>
              <a:t>Going the extra mile!</a:t>
            </a:r>
            <a:endParaRPr dirty="0"/>
          </a:p>
        </p:txBody>
      </p:sp>
      <p:pic>
        <p:nvPicPr>
          <p:cNvPr id="7" name="Graphic 6" descr="Medal">
            <a:extLst>
              <a:ext uri="{FF2B5EF4-FFF2-40B4-BE49-F238E27FC236}">
                <a16:creationId xmlns:a16="http://schemas.microsoft.com/office/drawing/2014/main" id="{2C2C6876-7040-0594-5C65-F9EFF1B3B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666" y="1379845"/>
            <a:ext cx="3492405" cy="3492405"/>
          </a:xfrm>
          <a:prstGeom prst="rect">
            <a:avLst/>
          </a:prstGeom>
        </p:spPr>
      </p:pic>
    </p:spTree>
    <p:extLst>
      <p:ext uri="{BB962C8B-B14F-4D97-AF65-F5344CB8AC3E}">
        <p14:creationId xmlns:p14="http://schemas.microsoft.com/office/powerpoint/2010/main" val="3532431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477" name="Google Shape;477;p50"/>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480" name="Google Shape;480;p50"/>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P</a:t>
            </a:r>
            <a:r>
              <a:rPr lang="en-NL" dirty="0" err="1"/>
              <a:t>ut</a:t>
            </a:r>
            <a:r>
              <a:rPr lang="en-NL" dirty="0"/>
              <a:t> your evidence down here to receive a medal!</a:t>
            </a:r>
            <a:endParaRPr lang="en-GB" dirty="0"/>
          </a:p>
        </p:txBody>
      </p:sp>
      <p:sp>
        <p:nvSpPr>
          <p:cNvPr id="7" name="Google Shape;459;p48">
            <a:extLst>
              <a:ext uri="{FF2B5EF4-FFF2-40B4-BE49-F238E27FC236}">
                <a16:creationId xmlns:a16="http://schemas.microsoft.com/office/drawing/2014/main" id="{5161B9CD-FD90-1846-8EE0-48554F0A839A}"/>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Going the extra mile!</a:t>
            </a:r>
            <a:endParaRPr lang="en-GB" dirty="0"/>
          </a:p>
        </p:txBody>
      </p:sp>
      <p:sp>
        <p:nvSpPr>
          <p:cNvPr id="2" name="Google Shape;462;p48">
            <a:extLst>
              <a:ext uri="{FF2B5EF4-FFF2-40B4-BE49-F238E27FC236}">
                <a16:creationId xmlns:a16="http://schemas.microsoft.com/office/drawing/2014/main" id="{504CBF35-FBEA-FA87-F016-E6278C3C94B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Medal Challenges</a:t>
            </a:r>
            <a:endParaRPr lang="en-US" dirty="0"/>
          </a:p>
        </p:txBody>
      </p:sp>
      <p:pic>
        <p:nvPicPr>
          <p:cNvPr id="12" name="Graphic 11" descr="Medal">
            <a:extLst>
              <a:ext uri="{FF2B5EF4-FFF2-40B4-BE49-F238E27FC236}">
                <a16:creationId xmlns:a16="http://schemas.microsoft.com/office/drawing/2014/main" id="{DAEAD1FE-ADA8-7092-2C63-52D1D8722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5771" y="58096"/>
            <a:ext cx="459808" cy="459808"/>
          </a:xfrm>
          <a:prstGeom prst="rect">
            <a:avLst/>
          </a:prstGeom>
        </p:spPr>
      </p:pic>
    </p:spTree>
    <p:extLst>
      <p:ext uri="{BB962C8B-B14F-4D97-AF65-F5344CB8AC3E}">
        <p14:creationId xmlns:p14="http://schemas.microsoft.com/office/powerpoint/2010/main" val="1352897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D</a:t>
            </a:r>
            <a:endParaRPr sz="600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rPr>
              <a:t>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6" name="Google Shape;506;p53"/>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My most significant achievements this block</a:t>
            </a:r>
            <a:endParaRPr/>
          </a:p>
        </p:txBody>
      </p:sp>
      <p:sp>
        <p:nvSpPr>
          <p:cNvPr id="507" name="Google Shape;507;p53"/>
          <p:cNvSpPr txBox="1">
            <a:spLocks noGrp="1"/>
          </p:cNvSpPr>
          <p:nvPr>
            <p:ph type="body" idx="3"/>
          </p:nvPr>
        </p:nvSpPr>
        <p:spPr>
          <a:xfrm>
            <a:off x="121422" y="1069812"/>
            <a:ext cx="87783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Most significant achievement in this block for me it was that I learned how to work with Power BI </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most difficult challenges this block</a:t>
            </a:r>
            <a:endParaRPr sz="1400" b="1" dirty="0"/>
          </a:p>
          <a:p>
            <a:pPr marL="0" lvl="0" indent="0" algn="just" rtl="0">
              <a:spcBef>
                <a:spcPts val="800"/>
              </a:spcBef>
              <a:spcAft>
                <a:spcPts val="0"/>
              </a:spcAft>
              <a:buNone/>
            </a:pPr>
            <a:r>
              <a:rPr lang="en-US" dirty="0"/>
              <a:t>The most difficult one it was dashboard because it was something new and I tried my best to learn it </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The most important lessons I learned</a:t>
            </a:r>
            <a:endParaRPr sz="1400" b="1" dirty="0"/>
          </a:p>
          <a:p>
            <a:pPr marL="0" lvl="0" indent="0" algn="just" rtl="0">
              <a:spcBef>
                <a:spcPts val="800"/>
              </a:spcBef>
              <a:spcAft>
                <a:spcPts val="800"/>
              </a:spcAft>
              <a:buNone/>
            </a:pPr>
            <a:r>
              <a:rPr lang="en" dirty="0"/>
              <a:t>I should do my work log and learning log consistenly to not get beyond a lof of work and the other thing I thought I am good at Python but I learned I have to work on ti more.</a:t>
            </a:r>
            <a:endParaRPr dirty="0"/>
          </a:p>
        </p:txBody>
      </p:sp>
      <p:sp>
        <p:nvSpPr>
          <p:cNvPr id="508" name="Google Shape;508;p53"/>
          <p:cNvSpPr txBox="1">
            <a:spLocks noGrp="1"/>
          </p:cNvSpPr>
          <p:nvPr>
            <p:ph type="title" idx="4"/>
          </p:nvPr>
        </p:nvSpPr>
        <p:spPr>
          <a:xfrm>
            <a:off x="-91848" y="96951"/>
            <a:ext cx="851544"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well am I progressing?</a:t>
            </a:r>
            <a:endParaRPr/>
          </a:p>
        </p:txBody>
      </p:sp>
      <p:sp>
        <p:nvSpPr>
          <p:cNvPr id="514" name="Google Shape;514;p54"/>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 sz="1400"/>
              <a:t>/</a:t>
            </a:r>
            <a:r>
              <a:rPr lang="en"/>
              <a:t>2</a:t>
            </a:r>
            <a:endParaRPr sz="1400"/>
          </a:p>
        </p:txBody>
      </p:sp>
      <p:sp>
        <p:nvSpPr>
          <p:cNvPr id="516" name="Google Shape;516;p54"/>
          <p:cNvSpPr txBox="1">
            <a:spLocks noGrp="1"/>
          </p:cNvSpPr>
          <p:nvPr>
            <p:ph type="subTitle" idx="1"/>
          </p:nvPr>
        </p:nvSpPr>
        <p:spPr>
          <a:xfrm>
            <a:off x="182880" y="667512"/>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 on my self assessment						My self assessment grade is a</a:t>
            </a:r>
            <a:endParaRPr b="0" i="1"/>
          </a:p>
        </p:txBody>
      </p:sp>
      <p:sp>
        <p:nvSpPr>
          <p:cNvPr id="517" name="Google Shape;517;p54"/>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I think I did prety good this block just I because I felot lost at the begin</a:t>
            </a:r>
            <a:r>
              <a:rPr lang="en-US" dirty="0"/>
              <a:t>n</a:t>
            </a:r>
            <a:r>
              <a:rPr lang="en" dirty="0"/>
              <a:t>ing of the block It took me behind and it cause me to work hard which it was because I was not familiar with this method.</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How I plan to improve next block</a:t>
            </a:r>
          </a:p>
          <a:p>
            <a:pPr marL="0" lvl="0" indent="0" algn="just" rtl="0">
              <a:spcBef>
                <a:spcPts val="800"/>
              </a:spcBef>
              <a:spcAft>
                <a:spcPts val="0"/>
              </a:spcAft>
              <a:buNone/>
            </a:pPr>
            <a:r>
              <a:rPr lang="en-US" sz="1400" b="1" dirty="0"/>
              <a:t>S</a:t>
            </a:r>
            <a:r>
              <a:rPr lang="en" sz="1400" b="1" dirty="0"/>
              <a:t>tudy consistenly during the block and do all my working log and learning log every week </a:t>
            </a:r>
            <a:endParaRPr sz="1400" b="1" dirty="0"/>
          </a:p>
        </p:txBody>
      </p:sp>
      <p:sp>
        <p:nvSpPr>
          <p:cNvPr id="518" name="Google Shape;518;p54"/>
          <p:cNvSpPr txBox="1"/>
          <p:nvPr/>
        </p:nvSpPr>
        <p:spPr>
          <a:xfrm>
            <a:off x="7603200" y="1164624"/>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solidFill>
                  <a:srgbClr val="434343"/>
                </a:solidFill>
                <a:latin typeface="Roboto"/>
                <a:ea typeface="Roboto"/>
                <a:cs typeface="Roboto"/>
                <a:sym typeface="Roboto"/>
              </a:rPr>
              <a:t>81</a:t>
            </a:r>
            <a:endParaRPr sz="3600" b="1" dirty="0">
              <a:solidFill>
                <a:srgbClr val="434343"/>
              </a:solidFill>
              <a:latin typeface="Roboto"/>
              <a:ea typeface="Roboto"/>
              <a:cs typeface="Roboto"/>
              <a:sym typeface="Roboto"/>
            </a:endParaRPr>
          </a:p>
        </p:txBody>
      </p:sp>
      <p:sp>
        <p:nvSpPr>
          <p:cNvPr id="5" name="Google Shape;508;p53">
            <a:extLst>
              <a:ext uri="{FF2B5EF4-FFF2-40B4-BE49-F238E27FC236}">
                <a16:creationId xmlns:a16="http://schemas.microsoft.com/office/drawing/2014/main" id="{EAC66E3E-7997-3FB2-868E-2DAC206B613B}"/>
              </a:ext>
            </a:extLst>
          </p:cNvPr>
          <p:cNvSpPr txBox="1">
            <a:spLocks/>
          </p:cNvSpPr>
          <p:nvPr/>
        </p:nvSpPr>
        <p:spPr>
          <a:xfrm>
            <a:off x="-91848" y="96951"/>
            <a:ext cx="851544"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2000"/>
              <a:buFont typeface="Roboto Light"/>
              <a:buNone/>
              <a:defRPr sz="4800" b="0" i="0" u="none" strike="noStrike" cap="none">
                <a:solidFill>
                  <a:schemeClr val="lt1"/>
                </a:solidFill>
                <a:latin typeface="Roboto Light"/>
                <a:ea typeface="Roboto Light"/>
                <a:cs typeface="Roboto Light"/>
                <a:sym typeface="Roboto Light"/>
              </a:defRPr>
            </a:lvl1pPr>
            <a:lvl2pPr marR="0" lvl="1"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2pPr>
            <a:lvl3pPr marR="0" lvl="2"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3pPr>
            <a:lvl4pPr marR="0" lvl="3"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4pPr>
            <a:lvl5pPr marR="0" lvl="4"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5pPr>
            <a:lvl6pPr marR="0" lvl="5"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6pPr>
            <a:lvl7pPr marR="0" lvl="6"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7pPr>
            <a:lvl8pPr marR="0" lvl="7"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8pPr>
            <a:lvl9pPr marR="0" lvl="8" algn="l" rtl="0">
              <a:lnSpc>
                <a:spcPct val="100000"/>
              </a:lnSpc>
              <a:spcBef>
                <a:spcPts val="0"/>
              </a:spcBef>
              <a:spcAft>
                <a:spcPts val="0"/>
              </a:spcAft>
              <a:buClr>
                <a:srgbClr val="EC781C"/>
              </a:buClr>
              <a:buSzPts val="2400"/>
              <a:buFont typeface="Alfa Slab One"/>
              <a:buNone/>
              <a:defRPr sz="2400" b="0" i="0" u="none" strike="noStrike" cap="none">
                <a:solidFill>
                  <a:srgbClr val="EC781C"/>
                </a:solidFill>
                <a:latin typeface="Alfa Slab One"/>
                <a:ea typeface="Alfa Slab One"/>
                <a:cs typeface="Alfa Slab One"/>
                <a:sym typeface="Alfa Slab One"/>
              </a:defRPr>
            </a:lvl9pPr>
          </a:lstStyle>
          <a:p>
            <a:endParaRPr lang="en"/>
          </a:p>
        </p:txBody>
      </p:sp>
      <p:sp>
        <p:nvSpPr>
          <p:cNvPr id="7" name="Google Shape;508;p53">
            <a:extLst>
              <a:ext uri="{FF2B5EF4-FFF2-40B4-BE49-F238E27FC236}">
                <a16:creationId xmlns:a16="http://schemas.microsoft.com/office/drawing/2014/main" id="{6ADF2B66-4C53-E1C0-7D9C-21EFEAFCBDB5}"/>
              </a:ext>
            </a:extLst>
          </p:cNvPr>
          <p:cNvSpPr txBox="1">
            <a:spLocks noGrp="1"/>
          </p:cNvSpPr>
          <p:nvPr>
            <p:ph type="title" idx="4"/>
          </p:nvPr>
        </p:nvSpPr>
        <p:spPr>
          <a:xfrm>
            <a:off x="-89467" y="49326"/>
            <a:ext cx="851544"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p>
        </p:txBody>
      </p:sp>
    </p:spTree>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5b79d58-b38a-4b87-b38c-f1f3f0d5c92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2308C42A05C4396E8C3F2DAA23FBB" ma:contentTypeVersion="6" ma:contentTypeDescription="Create a new document." ma:contentTypeScope="" ma:versionID="13d8c6c9e0a6e38189d54d59e12d4824">
  <xsd:schema xmlns:xsd="http://www.w3.org/2001/XMLSchema" xmlns:xs="http://www.w3.org/2001/XMLSchema" xmlns:p="http://schemas.microsoft.com/office/2006/metadata/properties" xmlns:ns3="c5b79d58-b38a-4b87-b38c-f1f3f0d5c921" targetNamespace="http://schemas.microsoft.com/office/2006/metadata/properties" ma:root="true" ma:fieldsID="3267f8d4dcbad9004cab318896db0369" ns3:_="">
    <xsd:import namespace="c5b79d58-b38a-4b87-b38c-f1f3f0d5c921"/>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b79d58-b38a-4b87-b38c-f1f3f0d5c92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D9791E-52D0-4ABB-925A-4EAECF798D9B}">
  <ds:schemaRefs>
    <ds:schemaRef ds:uri="http://schemas.microsoft.com/sharepoint/v3/contenttype/forms"/>
  </ds:schemaRefs>
</ds:datastoreItem>
</file>

<file path=customXml/itemProps2.xml><?xml version="1.0" encoding="utf-8"?>
<ds:datastoreItem xmlns:ds="http://schemas.openxmlformats.org/officeDocument/2006/customXml" ds:itemID="{3067B86F-F5BB-4BE6-9A37-0E19E53CB68B}">
  <ds:schemaRefs>
    <ds:schemaRef ds:uri="http://purl.org/dc/terms/"/>
    <ds:schemaRef ds:uri="http://purl.org/dc/dcmitype/"/>
    <ds:schemaRef ds:uri="c5b79d58-b38a-4b87-b38c-f1f3f0d5c921"/>
    <ds:schemaRef ds:uri="http://schemas.microsoft.com/office/2006/metadata/properties"/>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8C0B281-C804-4862-BC52-9DDD003F88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b79d58-b38a-4b87-b38c-f1f3f0d5c9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1016</TotalTime>
  <Words>9019</Words>
  <Application>Microsoft Office PowerPoint</Application>
  <PresentationFormat>On-screen Show (16:9)</PresentationFormat>
  <Paragraphs>581</Paragraphs>
  <Slides>41</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Roboto Light</vt:lpstr>
      <vt:lpstr>Roboto</vt:lpstr>
      <vt:lpstr>Arial</vt:lpstr>
      <vt:lpstr>Helvetica Neue</vt:lpstr>
      <vt:lpstr>Roboto Thin</vt:lpstr>
      <vt:lpstr>Proxima Nova</vt:lpstr>
      <vt:lpstr>BUAS Gameday</vt:lpstr>
      <vt:lpstr>Mohammadali Jaberi  244437  «creativebrief/projectname»</vt:lpstr>
      <vt:lpstr>How To Use This Template</vt:lpstr>
      <vt:lpstr>Learning Log Structure</vt:lpstr>
      <vt:lpstr>Section A</vt:lpstr>
      <vt:lpstr>Section B</vt:lpstr>
      <vt:lpstr>Week 1 - Log</vt:lpstr>
      <vt:lpstr>Week 1 - Feedback</vt:lpstr>
      <vt:lpstr>Week 2 - Log</vt:lpstr>
      <vt:lpstr>Week 2 - Feedback</vt:lpstr>
      <vt:lpstr>Week 3 - Log</vt:lpstr>
      <vt:lpstr>Week 3 - Feedback</vt:lpstr>
      <vt:lpstr>Week 4 - Log</vt:lpstr>
      <vt:lpstr>Week 4 - Feedback</vt:lpstr>
      <vt:lpstr>Week 5 - Log</vt:lpstr>
      <vt:lpstr>Week 5 - Feedback</vt:lpstr>
      <vt:lpstr>Week 6 - Log</vt:lpstr>
      <vt:lpstr>Week 6 - Feedback</vt:lpstr>
      <vt:lpstr>Week 7 - Log</vt:lpstr>
      <vt:lpstr>Week 7 - Feedback</vt:lpstr>
      <vt:lpstr>Week 8 - Log</vt:lpstr>
      <vt:lpstr>Week 8 - Feedback</vt:lpstr>
      <vt:lpstr>Section C</vt:lpstr>
      <vt:lpstr>ILO 0.1</vt:lpstr>
      <vt:lpstr>ILO 0</vt:lpstr>
      <vt:lpstr>ILO 0.2</vt:lpstr>
      <vt:lpstr>ILO 0</vt:lpstr>
      <vt:lpstr>ILO 1</vt:lpstr>
      <vt:lpstr>ILO 1</vt:lpstr>
      <vt:lpstr>ILO 2</vt:lpstr>
      <vt:lpstr>ILO 2</vt:lpstr>
      <vt:lpstr>ILO 3</vt:lpstr>
      <vt:lpstr>ILO 3</vt:lpstr>
      <vt:lpstr>ILO 7</vt:lpstr>
      <vt:lpstr>ILO 7</vt:lpstr>
      <vt:lpstr>ILO 10</vt:lpstr>
      <vt:lpstr>ILO 10</vt:lpstr>
      <vt:lpstr>Medal Challenges</vt:lpstr>
      <vt:lpstr>1/1</vt:lpstr>
      <vt:lpstr>Section D</vt:lpstr>
      <vt:lpstr>What did I achieve this block?</vt:lpstr>
      <vt:lpstr>How well am I progressing?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«studentname» «studentid» «studentacademicproject»</dc:title>
  <dc:creator>Mohammad ali</dc:creator>
  <cp:lastModifiedBy>m.jaberi14979@gmail.com</cp:lastModifiedBy>
  <cp:revision>13</cp:revision>
  <dcterms:modified xsi:type="dcterms:W3CDTF">2024-11-01T15:38:26Z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0x0101008452308C42A05C4396E8C3F2DAA23FBB</vt:lpwstr>
  </property>
  <property fmtid="{D5CDD505-2E9C-101B-9397-08002B2CF9AE}" pid="3" name="MediaServiceImageTags">
    <vt:lpwstr/>
  </property>
</Properties>
</file>